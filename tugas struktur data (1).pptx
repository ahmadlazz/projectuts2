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Lato" panose="020F0502020204030203" pitchFamily="34" charset="0"/>
      <p:regular r:id="rId18"/>
      <p:bold r:id="rId19"/>
      <p:italic r:id="rId20"/>
      <p:boldItalic r:id="rId21"/>
    </p:embeddedFont>
    <p:embeddedFont>
      <p:font typeface="Lato Bold" panose="020F0802020204030203" pitchFamily="34" charset="0"/>
      <p:regular r:id="rId22"/>
      <p:bold r:id="rId23"/>
    </p:embeddedFont>
    <p:embeddedFont>
      <p:font typeface="Lato Italics" panose="020B0604020202020204" charset="0"/>
      <p:regular r:id="rId24"/>
    </p:embeddedFont>
    <p:embeddedFont>
      <p:font typeface="Poppin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85" d="100"/>
          <a:sy n="85" d="100"/>
        </p:scale>
        <p:origin x="1554" y="6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18" Type="http://schemas.openxmlformats.org/officeDocument/2006/relationships/image" Target="../media/image23.svg"/><Relationship Id="rId3" Type="http://schemas.openxmlformats.org/officeDocument/2006/relationships/image" Target="../media/image2.svg"/><Relationship Id="rId7" Type="http://schemas.openxmlformats.org/officeDocument/2006/relationships/image" Target="../media/image12.png"/><Relationship Id="rId12" Type="http://schemas.openxmlformats.org/officeDocument/2006/relationships/image" Target="../media/image17.svg"/><Relationship Id="rId17" Type="http://schemas.openxmlformats.org/officeDocument/2006/relationships/image" Target="../media/image22.svg"/><Relationship Id="rId2" Type="http://schemas.openxmlformats.org/officeDocument/2006/relationships/image" Target="../media/image1.png"/><Relationship Id="rId16"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3.jpeg"/><Relationship Id="rId9" Type="http://schemas.openxmlformats.org/officeDocument/2006/relationships/image" Target="../media/image14.png"/><Relationship Id="rId14" Type="http://schemas.openxmlformats.org/officeDocument/2006/relationships/image" Target="../media/image19.svg"/></Relationships>
</file>

<file path=ppt/slides/_rels/slide3.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18" Type="http://schemas.openxmlformats.org/officeDocument/2006/relationships/image" Target="../media/image37.svg"/><Relationship Id="rId26" Type="http://schemas.openxmlformats.org/officeDocument/2006/relationships/image" Target="../media/image45.png"/><Relationship Id="rId3" Type="http://schemas.openxmlformats.org/officeDocument/2006/relationships/image" Target="../media/image2.sv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png"/><Relationship Id="rId2" Type="http://schemas.openxmlformats.org/officeDocument/2006/relationships/image" Target="../media/image1.pn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5.svg"/><Relationship Id="rId11" Type="http://schemas.openxmlformats.org/officeDocument/2006/relationships/image" Target="../media/image30.png"/><Relationship Id="rId24" Type="http://schemas.openxmlformats.org/officeDocument/2006/relationships/image" Target="../media/image43.sv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2.svg"/><Relationship Id="rId28" Type="http://schemas.openxmlformats.org/officeDocument/2006/relationships/image" Target="../media/image15.svg"/><Relationship Id="rId10" Type="http://schemas.openxmlformats.org/officeDocument/2006/relationships/image" Target="../media/image29.png"/><Relationship Id="rId19" Type="http://schemas.openxmlformats.org/officeDocument/2006/relationships/image" Target="../media/image38.svg"/><Relationship Id="rId4" Type="http://schemas.openxmlformats.org/officeDocument/2006/relationships/image" Target="../media/image3.jpe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png"/><Relationship Id="rId27" Type="http://schemas.openxmlformats.org/officeDocument/2006/relationships/image" Target="../media/image14.png"/><Relationship Id="rId30" Type="http://schemas.openxmlformats.org/officeDocument/2006/relationships/image" Target="../media/image21.svg"/></Relationships>
</file>

<file path=ppt/slides/_rels/slide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image" Target="../media/image48.png"/><Relationship Id="rId12" Type="http://schemas.openxmlformats.org/officeDocument/2006/relationships/image" Target="../media/image15.svg"/><Relationship Id="rId17" Type="http://schemas.openxmlformats.org/officeDocument/2006/relationships/image" Target="../media/image54.svg"/><Relationship Id="rId2" Type="http://schemas.openxmlformats.org/officeDocument/2006/relationships/image" Target="../media/image1.png"/><Relationship Id="rId16"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47.svg"/><Relationship Id="rId11" Type="http://schemas.openxmlformats.org/officeDocument/2006/relationships/image" Target="../media/image14.png"/><Relationship Id="rId5" Type="http://schemas.openxmlformats.org/officeDocument/2006/relationships/image" Target="../media/image46.png"/><Relationship Id="rId15" Type="http://schemas.openxmlformats.org/officeDocument/2006/relationships/image" Target="../media/image52.png"/><Relationship Id="rId10" Type="http://schemas.openxmlformats.org/officeDocument/2006/relationships/image" Target="../media/image51.png"/><Relationship Id="rId4" Type="http://schemas.openxmlformats.org/officeDocument/2006/relationships/image" Target="../media/image3.jpeg"/><Relationship Id="rId9" Type="http://schemas.openxmlformats.org/officeDocument/2006/relationships/image" Target="../media/image50.svg"/><Relationship Id="rId14" Type="http://schemas.openxmlformats.org/officeDocument/2006/relationships/image" Target="../media/image21.svg"/></Relationships>
</file>

<file path=ppt/slides/_rels/slide5.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2.png"/><Relationship Id="rId3" Type="http://schemas.openxmlformats.org/officeDocument/2006/relationships/image" Target="../media/image2.svg"/><Relationship Id="rId7" Type="http://schemas.openxmlformats.org/officeDocument/2006/relationships/image" Target="../media/image56.png"/><Relationship Id="rId12" Type="http://schemas.openxmlformats.org/officeDocument/2006/relationships/image" Target="../media/image6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5.svg"/><Relationship Id="rId11" Type="http://schemas.openxmlformats.org/officeDocument/2006/relationships/image" Target="../media/image60.png"/><Relationship Id="rId5" Type="http://schemas.openxmlformats.org/officeDocument/2006/relationships/image" Target="../media/image14.png"/><Relationship Id="rId15" Type="http://schemas.openxmlformats.org/officeDocument/2006/relationships/image" Target="../media/image64.jpeg"/><Relationship Id="rId10" Type="http://schemas.openxmlformats.org/officeDocument/2006/relationships/image" Target="../media/image59.svg"/><Relationship Id="rId4" Type="http://schemas.openxmlformats.org/officeDocument/2006/relationships/image" Target="../media/image3.jpeg"/><Relationship Id="rId9" Type="http://schemas.openxmlformats.org/officeDocument/2006/relationships/image" Target="../media/image58.svg"/><Relationship Id="rId14" Type="http://schemas.openxmlformats.org/officeDocument/2006/relationships/image" Target="../media/image63.svg"/></Relationships>
</file>

<file path=ppt/slides/_rels/slide6.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2.svg"/><Relationship Id="rId18"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7.png"/><Relationship Id="rId12" Type="http://schemas.openxmlformats.org/officeDocument/2006/relationships/image" Target="../media/image52.png"/><Relationship Id="rId17"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75.png"/><Relationship Id="rId20"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66.svg"/><Relationship Id="rId11" Type="http://schemas.openxmlformats.org/officeDocument/2006/relationships/image" Target="../media/image71.svg"/><Relationship Id="rId5" Type="http://schemas.openxmlformats.org/officeDocument/2006/relationships/image" Target="../media/image65.png"/><Relationship Id="rId15" Type="http://schemas.openxmlformats.org/officeDocument/2006/relationships/image" Target="../media/image74.svg"/><Relationship Id="rId10" Type="http://schemas.openxmlformats.org/officeDocument/2006/relationships/image" Target="../media/image70.png"/><Relationship Id="rId19" Type="http://schemas.openxmlformats.org/officeDocument/2006/relationships/image" Target="../media/image20.png"/><Relationship Id="rId4" Type="http://schemas.openxmlformats.org/officeDocument/2006/relationships/image" Target="../media/image3.jpeg"/><Relationship Id="rId9" Type="http://schemas.openxmlformats.org/officeDocument/2006/relationships/image" Target="../media/image69.svg"/><Relationship Id="rId14" Type="http://schemas.openxmlformats.org/officeDocument/2006/relationships/image" Target="../media/image73.png"/></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77.svg"/><Relationship Id="rId4" Type="http://schemas.openxmlformats.org/officeDocument/2006/relationships/image" Target="../media/image3.jpeg"/><Relationship Id="rId9" Type="http://schemas.openxmlformats.org/officeDocument/2006/relationships/image" Target="../media/image76.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jpeg"/></Relationships>
</file>

<file path=ppt/slides/_rels/slide9.xml.rels><?xml version="1.0" encoding="UTF-8" standalone="yes"?>
<Relationships xmlns="http://schemas.openxmlformats.org/package/2006/relationships"><Relationship Id="rId8" Type="http://schemas.openxmlformats.org/officeDocument/2006/relationships/image" Target="../media/image84.svg"/><Relationship Id="rId13" Type="http://schemas.openxmlformats.org/officeDocument/2006/relationships/image" Target="../media/image89.png"/><Relationship Id="rId18" Type="http://schemas.openxmlformats.org/officeDocument/2006/relationships/image" Target="../media/image20.png"/><Relationship Id="rId3" Type="http://schemas.openxmlformats.org/officeDocument/2006/relationships/image" Target="../media/image2.svg"/><Relationship Id="rId21" Type="http://schemas.openxmlformats.org/officeDocument/2006/relationships/image" Target="../media/image93.sv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15.sv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82.svg"/><Relationship Id="rId11" Type="http://schemas.openxmlformats.org/officeDocument/2006/relationships/image" Target="../media/image87.svg"/><Relationship Id="rId5" Type="http://schemas.openxmlformats.org/officeDocument/2006/relationships/image" Target="../media/image81.png"/><Relationship Id="rId15" Type="http://schemas.openxmlformats.org/officeDocument/2006/relationships/image" Target="../media/image91.png"/><Relationship Id="rId10" Type="http://schemas.openxmlformats.org/officeDocument/2006/relationships/image" Target="../media/image86.svg"/><Relationship Id="rId19" Type="http://schemas.openxmlformats.org/officeDocument/2006/relationships/image" Target="../media/image21.svg"/><Relationship Id="rId4" Type="http://schemas.openxmlformats.org/officeDocument/2006/relationships/image" Target="../media/image3.jpeg"/><Relationship Id="rId9" Type="http://schemas.openxmlformats.org/officeDocument/2006/relationships/image" Target="../media/image85.svg"/><Relationship Id="rId14" Type="http://schemas.openxmlformats.org/officeDocument/2006/relationships/image" Target="../media/image90.png"/></Relationships>
</file>

<file path=ppt/slides/_rels/slide10.xml.rels><?xml version="1.0" encoding="UTF-8" standalone="yes"?>
<Relationships xmlns="http://schemas.openxmlformats.org/package/2006/relationships"><Relationship Id="rId13" Type="http://schemas.openxmlformats.org/officeDocument/2006/relationships/image" Target="../media/image102.svg"/><Relationship Id="rId18" Type="http://schemas.openxmlformats.org/officeDocument/2006/relationships/image" Target="../media/image107.svg"/><Relationship Id="rId26" Type="http://schemas.openxmlformats.org/officeDocument/2006/relationships/image" Target="../media/image115.png"/><Relationship Id="rId3" Type="http://schemas.openxmlformats.org/officeDocument/2006/relationships/image" Target="../media/image2.svg"/><Relationship Id="rId21" Type="http://schemas.openxmlformats.org/officeDocument/2006/relationships/image" Target="../media/image110.png"/><Relationship Id="rId34" Type="http://schemas.openxmlformats.org/officeDocument/2006/relationships/image" Target="../media/image20.png"/><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106.png"/><Relationship Id="rId25" Type="http://schemas.openxmlformats.org/officeDocument/2006/relationships/image" Target="../media/image114.png"/><Relationship Id="rId33" Type="http://schemas.openxmlformats.org/officeDocument/2006/relationships/image" Target="../media/image15.svg"/><Relationship Id="rId2" Type="http://schemas.openxmlformats.org/officeDocument/2006/relationships/image" Target="../media/image1.png"/><Relationship Id="rId16" Type="http://schemas.openxmlformats.org/officeDocument/2006/relationships/image" Target="../media/image105.svg"/><Relationship Id="rId20" Type="http://schemas.openxmlformats.org/officeDocument/2006/relationships/image" Target="../media/image109.svg"/><Relationship Id="rId29"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95.svg"/><Relationship Id="rId11" Type="http://schemas.openxmlformats.org/officeDocument/2006/relationships/image" Target="../media/image100.png"/><Relationship Id="rId24" Type="http://schemas.openxmlformats.org/officeDocument/2006/relationships/image" Target="../media/image113.svg"/><Relationship Id="rId32" Type="http://schemas.openxmlformats.org/officeDocument/2006/relationships/image" Target="../media/image14.png"/><Relationship Id="rId5" Type="http://schemas.openxmlformats.org/officeDocument/2006/relationships/image" Target="../media/image94.png"/><Relationship Id="rId15" Type="http://schemas.openxmlformats.org/officeDocument/2006/relationships/image" Target="../media/image104.png"/><Relationship Id="rId23" Type="http://schemas.openxmlformats.org/officeDocument/2006/relationships/image" Target="../media/image112.svg"/><Relationship Id="rId28" Type="http://schemas.openxmlformats.org/officeDocument/2006/relationships/image" Target="../media/image117.png"/><Relationship Id="rId10" Type="http://schemas.openxmlformats.org/officeDocument/2006/relationships/image" Target="../media/image99.svg"/><Relationship Id="rId19" Type="http://schemas.openxmlformats.org/officeDocument/2006/relationships/image" Target="../media/image108.png"/><Relationship Id="rId31" Type="http://schemas.openxmlformats.org/officeDocument/2006/relationships/image" Target="../media/image119.png"/><Relationship Id="rId4" Type="http://schemas.openxmlformats.org/officeDocument/2006/relationships/image" Target="../media/image3.jpeg"/><Relationship Id="rId9" Type="http://schemas.openxmlformats.org/officeDocument/2006/relationships/image" Target="../media/image98.svg"/><Relationship Id="rId14" Type="http://schemas.openxmlformats.org/officeDocument/2006/relationships/image" Target="../media/image103.png"/><Relationship Id="rId22" Type="http://schemas.openxmlformats.org/officeDocument/2006/relationships/image" Target="../media/image111.svg"/><Relationship Id="rId27" Type="http://schemas.openxmlformats.org/officeDocument/2006/relationships/image" Target="../media/image116.svg"/><Relationship Id="rId30" Type="http://schemas.openxmlformats.org/officeDocument/2006/relationships/image" Target="../media/image118.svg"/><Relationship Id="rId35" Type="http://schemas.openxmlformats.org/officeDocument/2006/relationships/image" Target="../media/image21.svg"/><Relationship Id="rId8" Type="http://schemas.openxmlformats.org/officeDocument/2006/relationships/image" Target="../media/image97.png"/></Relationships>
</file>

<file path=ppt/slides/_rels/slide11.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svg"/><Relationship Id="rId18" Type="http://schemas.openxmlformats.org/officeDocument/2006/relationships/image" Target="../media/image14.png"/><Relationship Id="rId3" Type="http://schemas.openxmlformats.org/officeDocument/2006/relationships/image" Target="../media/image2.svg"/><Relationship Id="rId21" Type="http://schemas.openxmlformats.org/officeDocument/2006/relationships/image" Target="../media/image21.sv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2.png"/><Relationship Id="rId2" Type="http://schemas.openxmlformats.org/officeDocument/2006/relationships/image" Target="../media/image1.png"/><Relationship Id="rId16" Type="http://schemas.openxmlformats.org/officeDocument/2006/relationships/image" Target="../media/image131.svg"/><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21.svg"/><Relationship Id="rId11" Type="http://schemas.openxmlformats.org/officeDocument/2006/relationships/image" Target="../media/image126.svg"/><Relationship Id="rId5" Type="http://schemas.openxmlformats.org/officeDocument/2006/relationships/image" Target="../media/image120.png"/><Relationship Id="rId15" Type="http://schemas.openxmlformats.org/officeDocument/2006/relationships/image" Target="../media/image130.svg"/><Relationship Id="rId10" Type="http://schemas.openxmlformats.org/officeDocument/2006/relationships/image" Target="../media/image125.png"/><Relationship Id="rId19" Type="http://schemas.openxmlformats.org/officeDocument/2006/relationships/image" Target="../media/image15.svg"/><Relationship Id="rId4" Type="http://schemas.openxmlformats.org/officeDocument/2006/relationships/image" Target="../media/image3.jpeg"/><Relationship Id="rId9" Type="http://schemas.openxmlformats.org/officeDocument/2006/relationships/image" Target="../media/image124.svg"/><Relationship Id="rId14" Type="http://schemas.openxmlformats.org/officeDocument/2006/relationships/image" Target="../media/image129.svg"/></Relationships>
</file>

<file path=ppt/slides/_rels/slide12.xml.rels><?xml version="1.0" encoding="UTF-8" standalone="yes"?>
<Relationships xmlns="http://schemas.openxmlformats.org/package/2006/relationships"><Relationship Id="rId8" Type="http://schemas.openxmlformats.org/officeDocument/2006/relationships/image" Target="../media/image136.svg"/><Relationship Id="rId3" Type="http://schemas.openxmlformats.org/officeDocument/2006/relationships/image" Target="../media/image2.svg"/><Relationship Id="rId7" Type="http://schemas.openxmlformats.org/officeDocument/2006/relationships/image" Target="../media/image13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4.svg"/><Relationship Id="rId5" Type="http://schemas.openxmlformats.org/officeDocument/2006/relationships/image" Target="../media/image133.png"/><Relationship Id="rId10" Type="http://schemas.openxmlformats.org/officeDocument/2006/relationships/image" Target="../media/image137.svg"/><Relationship Id="rId4" Type="http://schemas.openxmlformats.org/officeDocument/2006/relationships/image" Target="../media/image3.jpe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295275" y="571500"/>
            <a:ext cx="11601450" cy="754256"/>
          </a:xfrm>
          <a:custGeom>
            <a:avLst/>
            <a:gdLst/>
            <a:ahLst/>
            <a:cxnLst/>
            <a:rect l="l" t="t" r="r" b="b"/>
            <a:pathLst>
              <a:path w="11601450" h="754256">
                <a:moveTo>
                  <a:pt x="0" y="0"/>
                </a:moveTo>
                <a:lnTo>
                  <a:pt x="11601450" y="0"/>
                </a:lnTo>
                <a:lnTo>
                  <a:pt x="11601450" y="754256"/>
                </a:lnTo>
                <a:lnTo>
                  <a:pt x="0" y="7542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571500" y="2628605"/>
            <a:ext cx="11049000" cy="1371600"/>
          </a:xfrm>
          <a:custGeom>
            <a:avLst/>
            <a:gdLst/>
            <a:ahLst/>
            <a:cxnLst/>
            <a:rect l="l" t="t" r="r" b="b"/>
            <a:pathLst>
              <a:path w="11049000" h="1371600">
                <a:moveTo>
                  <a:pt x="0" y="0"/>
                </a:moveTo>
                <a:lnTo>
                  <a:pt x="11049000" y="0"/>
                </a:lnTo>
                <a:lnTo>
                  <a:pt x="11049000" y="1371600"/>
                </a:lnTo>
                <a:lnTo>
                  <a:pt x="0" y="13716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571500" y="1516256"/>
            <a:ext cx="7620000" cy="731339"/>
          </a:xfrm>
          <a:custGeom>
            <a:avLst/>
            <a:gdLst/>
            <a:ahLst/>
            <a:cxnLst/>
            <a:rect l="l" t="t" r="r" b="b"/>
            <a:pathLst>
              <a:path w="7620000" h="731339">
                <a:moveTo>
                  <a:pt x="0" y="0"/>
                </a:moveTo>
                <a:lnTo>
                  <a:pt x="7620000" y="0"/>
                </a:lnTo>
                <a:lnTo>
                  <a:pt x="7620000" y="731339"/>
                </a:lnTo>
                <a:lnTo>
                  <a:pt x="0" y="7313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2031949" y="2289153"/>
            <a:ext cx="8290665" cy="1151030"/>
          </a:xfrm>
          <a:prstGeom prst="rect">
            <a:avLst/>
          </a:prstGeom>
        </p:spPr>
        <p:txBody>
          <a:bodyPr lIns="0" tIns="0" rIns="0" bIns="0" rtlCol="0" anchor="t">
            <a:spAutoFit/>
          </a:bodyPr>
          <a:lstStyle/>
          <a:p>
            <a:pPr algn="l">
              <a:lnSpc>
                <a:spcPts val="7559"/>
              </a:lnSpc>
            </a:pPr>
            <a:r>
              <a:rPr lang="en-US" sz="5400" b="1">
                <a:solidFill>
                  <a:srgbClr val="06B6D4"/>
                </a:solidFill>
                <a:latin typeface="Poppins Bold"/>
                <a:ea typeface="Poppins Bold"/>
                <a:cs typeface="Poppins Bold"/>
                <a:sym typeface="Poppins Bold"/>
              </a:rPr>
              <a:t>Sistem History Browser</a:t>
            </a:r>
          </a:p>
        </p:txBody>
      </p:sp>
      <p:sp>
        <p:nvSpPr>
          <p:cNvPr id="9" name="TextBox 9"/>
          <p:cNvSpPr txBox="1"/>
          <p:nvPr/>
        </p:nvSpPr>
        <p:spPr>
          <a:xfrm>
            <a:off x="2440581" y="3510315"/>
            <a:ext cx="7473401" cy="846430"/>
          </a:xfrm>
          <a:prstGeom prst="rect">
            <a:avLst/>
          </a:prstGeom>
        </p:spPr>
        <p:txBody>
          <a:bodyPr lIns="0" tIns="0" rIns="0" bIns="0" rtlCol="0" anchor="t">
            <a:spAutoFit/>
          </a:bodyPr>
          <a:lstStyle/>
          <a:p>
            <a:pPr algn="ctr">
              <a:lnSpc>
                <a:spcPts val="3454"/>
              </a:lnSpc>
            </a:pPr>
            <a:r>
              <a:rPr lang="en-US" sz="1800">
                <a:solidFill>
                  <a:srgbClr val="94A3B8"/>
                </a:solidFill>
                <a:latin typeface="Lato"/>
                <a:ea typeface="Lato"/>
                <a:cs typeface="Lato"/>
                <a:sym typeface="Lato"/>
              </a:rPr>
              <a:t>Implementasi</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Struktur</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Data</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Stack</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dan</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Queue</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dalam</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Navigasi</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dan</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Riwayat Penelusuran</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Internet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20015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571500" y="2690812"/>
            <a:ext cx="5286375" cy="2476500"/>
          </a:xfrm>
          <a:custGeom>
            <a:avLst/>
            <a:gdLst/>
            <a:ahLst/>
            <a:cxnLst/>
            <a:rect l="l" t="t" r="r" b="b"/>
            <a:pathLst>
              <a:path w="5286375" h="2476500">
                <a:moveTo>
                  <a:pt x="0" y="0"/>
                </a:moveTo>
                <a:lnTo>
                  <a:pt x="5286375" y="0"/>
                </a:lnTo>
                <a:lnTo>
                  <a:pt x="5286375" y="2476500"/>
                </a:lnTo>
                <a:lnTo>
                  <a:pt x="0" y="2476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571500" y="2690812"/>
            <a:ext cx="5286375" cy="2476500"/>
            <a:chOff x="0" y="0"/>
            <a:chExt cx="7048500" cy="3302000"/>
          </a:xfrm>
        </p:grpSpPr>
        <p:sp>
          <p:nvSpPr>
            <p:cNvPr id="7" name="Freeform 7"/>
            <p:cNvSpPr/>
            <p:nvPr/>
          </p:nvSpPr>
          <p:spPr>
            <a:xfrm>
              <a:off x="0" y="0"/>
              <a:ext cx="7048500" cy="3302000"/>
            </a:xfrm>
            <a:custGeom>
              <a:avLst/>
              <a:gdLst/>
              <a:ahLst/>
              <a:cxnLst/>
              <a:rect l="l" t="t" r="r" b="b"/>
              <a:pathLst>
                <a:path w="7048500" h="3302000">
                  <a:moveTo>
                    <a:pt x="0" y="0"/>
                  </a:moveTo>
                  <a:lnTo>
                    <a:pt x="7048500" y="0"/>
                  </a:lnTo>
                  <a:lnTo>
                    <a:pt x="7048500" y="3302000"/>
                  </a:lnTo>
                  <a:lnTo>
                    <a:pt x="0" y="3302000"/>
                  </a:lnTo>
                  <a:lnTo>
                    <a:pt x="0" y="0"/>
                  </a:lnTo>
                  <a:close/>
                </a:path>
              </a:pathLst>
            </a:custGeom>
            <a:blipFill>
              <a:blip r:embed="rId7"/>
              <a:stretch>
                <a:fillRect/>
              </a:stretch>
            </a:blipFill>
          </p:spPr>
        </p:sp>
      </p:grpSp>
      <p:sp>
        <p:nvSpPr>
          <p:cNvPr id="8" name="Freeform 8"/>
          <p:cNvSpPr/>
          <p:nvPr/>
        </p:nvSpPr>
        <p:spPr>
          <a:xfrm>
            <a:off x="6715274" y="3309910"/>
            <a:ext cx="5286375" cy="2476500"/>
          </a:xfrm>
          <a:custGeom>
            <a:avLst/>
            <a:gdLst/>
            <a:ahLst/>
            <a:cxnLst/>
            <a:rect l="l" t="t" r="r" b="b"/>
            <a:pathLst>
              <a:path w="5286375" h="2476500">
                <a:moveTo>
                  <a:pt x="0" y="0"/>
                </a:moveTo>
                <a:lnTo>
                  <a:pt x="5286375" y="0"/>
                </a:lnTo>
                <a:lnTo>
                  <a:pt x="5286375" y="2476500"/>
                </a:lnTo>
                <a:lnTo>
                  <a:pt x="0" y="2476500"/>
                </a:lnTo>
                <a:lnTo>
                  <a:pt x="0" y="0"/>
                </a:lnTo>
                <a:close/>
              </a:path>
            </a:pathLst>
          </a:custGeom>
          <a:blipFill>
            <a:blip r:embed="rId5">
              <a:extLst>
                <a:ext uri="{96DAC541-7B7A-43D3-8B79-37D633B846F1}">
                  <asvg:svgBlip xmlns:asvg="http://schemas.microsoft.com/office/drawing/2016/SVG/main" r:embed="rId8"/>
                </a:ext>
              </a:extLst>
            </a:blip>
            <a:stretch>
              <a:fillRect/>
            </a:stretch>
          </a:blipFill>
        </p:spPr>
      </p:sp>
      <p:grpSp>
        <p:nvGrpSpPr>
          <p:cNvPr id="9" name="Group 9"/>
          <p:cNvGrpSpPr/>
          <p:nvPr/>
        </p:nvGrpSpPr>
        <p:grpSpPr>
          <a:xfrm>
            <a:off x="7116603" y="642910"/>
            <a:ext cx="5286375" cy="2476500"/>
            <a:chOff x="0" y="0"/>
            <a:chExt cx="7048500" cy="3302000"/>
          </a:xfrm>
        </p:grpSpPr>
        <p:sp>
          <p:nvSpPr>
            <p:cNvPr id="10" name="Freeform 10"/>
            <p:cNvSpPr/>
            <p:nvPr/>
          </p:nvSpPr>
          <p:spPr>
            <a:xfrm>
              <a:off x="0" y="0"/>
              <a:ext cx="7048500" cy="3302000"/>
            </a:xfrm>
            <a:custGeom>
              <a:avLst/>
              <a:gdLst/>
              <a:ahLst/>
              <a:cxnLst/>
              <a:rect l="l" t="t" r="r" b="b"/>
              <a:pathLst>
                <a:path w="7048500" h="3302000">
                  <a:moveTo>
                    <a:pt x="0" y="0"/>
                  </a:moveTo>
                  <a:lnTo>
                    <a:pt x="7048500" y="0"/>
                  </a:lnTo>
                  <a:lnTo>
                    <a:pt x="7048500" y="3302000"/>
                  </a:lnTo>
                  <a:lnTo>
                    <a:pt x="0" y="3302000"/>
                  </a:lnTo>
                  <a:lnTo>
                    <a:pt x="0" y="0"/>
                  </a:lnTo>
                  <a:close/>
                </a:path>
              </a:pathLst>
            </a:custGeom>
            <a:blipFill>
              <a:blip r:embed="rId7"/>
              <a:stretch>
                <a:fillRect/>
              </a:stretch>
            </a:blipFill>
          </p:spPr>
        </p:sp>
      </p:grpSp>
      <p:sp>
        <p:nvSpPr>
          <p:cNvPr id="11" name="Freeform 11"/>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Freeform 12"/>
          <p:cNvSpPr/>
          <p:nvPr/>
        </p:nvSpPr>
        <p:spPr>
          <a:xfrm>
            <a:off x="962025" y="3081338"/>
            <a:ext cx="4730591" cy="400050"/>
          </a:xfrm>
          <a:custGeom>
            <a:avLst/>
            <a:gdLst/>
            <a:ahLst/>
            <a:cxnLst/>
            <a:rect l="l" t="t" r="r" b="b"/>
            <a:pathLst>
              <a:path w="4730591" h="400050">
                <a:moveTo>
                  <a:pt x="0" y="0"/>
                </a:moveTo>
                <a:lnTo>
                  <a:pt x="4730591" y="0"/>
                </a:lnTo>
                <a:lnTo>
                  <a:pt x="4730591" y="400050"/>
                </a:lnTo>
                <a:lnTo>
                  <a:pt x="0" y="4000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3" name="Freeform 13"/>
          <p:cNvSpPr/>
          <p:nvPr/>
        </p:nvSpPr>
        <p:spPr>
          <a:xfrm>
            <a:off x="962025" y="3671888"/>
            <a:ext cx="4505325" cy="914400"/>
          </a:xfrm>
          <a:custGeom>
            <a:avLst/>
            <a:gdLst/>
            <a:ahLst/>
            <a:cxnLst/>
            <a:rect l="l" t="t" r="r" b="b"/>
            <a:pathLst>
              <a:path w="4505325" h="914400">
                <a:moveTo>
                  <a:pt x="0" y="0"/>
                </a:moveTo>
                <a:lnTo>
                  <a:pt x="4505325" y="0"/>
                </a:lnTo>
                <a:lnTo>
                  <a:pt x="4505325" y="914400"/>
                </a:lnTo>
                <a:lnTo>
                  <a:pt x="0" y="9144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4" name="Freeform 14"/>
          <p:cNvSpPr/>
          <p:nvPr/>
        </p:nvSpPr>
        <p:spPr>
          <a:xfrm>
            <a:off x="3886200" y="805825"/>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5" name="Freeform 15"/>
          <p:cNvSpPr/>
          <p:nvPr/>
        </p:nvSpPr>
        <p:spPr>
          <a:xfrm>
            <a:off x="6724650" y="3081338"/>
            <a:ext cx="4730591" cy="400050"/>
          </a:xfrm>
          <a:custGeom>
            <a:avLst/>
            <a:gdLst/>
            <a:ahLst/>
            <a:cxnLst/>
            <a:rect l="l" t="t" r="r" b="b"/>
            <a:pathLst>
              <a:path w="4730591" h="400050">
                <a:moveTo>
                  <a:pt x="0" y="0"/>
                </a:moveTo>
                <a:lnTo>
                  <a:pt x="4730591" y="0"/>
                </a:lnTo>
                <a:lnTo>
                  <a:pt x="4730591" y="400050"/>
                </a:lnTo>
                <a:lnTo>
                  <a:pt x="0" y="400050"/>
                </a:lnTo>
                <a:lnTo>
                  <a:pt x="0" y="0"/>
                </a:lnTo>
                <a:close/>
              </a:path>
            </a:pathLst>
          </a:custGeom>
          <a:blipFill>
            <a:blip r:embed="rId11">
              <a:extLst>
                <a:ext uri="{96DAC541-7B7A-43D3-8B79-37D633B846F1}">
                  <asvg:svgBlip xmlns:asvg="http://schemas.microsoft.com/office/drawing/2016/SVG/main" r:embed="rId17"/>
                </a:ext>
              </a:extLst>
            </a:blip>
            <a:stretch>
              <a:fillRect/>
            </a:stretch>
          </a:blipFill>
        </p:spPr>
      </p:sp>
      <p:sp>
        <p:nvSpPr>
          <p:cNvPr id="16" name="Freeform 16"/>
          <p:cNvSpPr/>
          <p:nvPr/>
        </p:nvSpPr>
        <p:spPr>
          <a:xfrm>
            <a:off x="6724650" y="3671888"/>
            <a:ext cx="4505325" cy="914400"/>
          </a:xfrm>
          <a:custGeom>
            <a:avLst/>
            <a:gdLst/>
            <a:ahLst/>
            <a:cxnLst/>
            <a:rect l="l" t="t" r="r" b="b"/>
            <a:pathLst>
              <a:path w="4505325" h="914400">
                <a:moveTo>
                  <a:pt x="0" y="0"/>
                </a:moveTo>
                <a:lnTo>
                  <a:pt x="4505325" y="0"/>
                </a:lnTo>
                <a:lnTo>
                  <a:pt x="4505325" y="914400"/>
                </a:lnTo>
                <a:lnTo>
                  <a:pt x="0" y="914400"/>
                </a:lnTo>
                <a:lnTo>
                  <a:pt x="0" y="0"/>
                </a:lnTo>
                <a:close/>
              </a:path>
            </a:pathLst>
          </a:custGeom>
          <a:blipFill>
            <a:blip r:embed="rId13">
              <a:extLst>
                <a:ext uri="{96DAC541-7B7A-43D3-8B79-37D633B846F1}">
                  <asvg:svgBlip xmlns:asvg="http://schemas.microsoft.com/office/drawing/2016/SVG/main" r:embed="rId18"/>
                </a:ext>
              </a:extLst>
            </a:blip>
            <a:stretch>
              <a:fillRect/>
            </a:stretch>
          </a:blipFill>
        </p:spPr>
      </p:sp>
      <p:sp>
        <p:nvSpPr>
          <p:cNvPr id="17" name="TextBox 17"/>
          <p:cNvSpPr txBox="1"/>
          <p:nvPr/>
        </p:nvSpPr>
        <p:spPr>
          <a:xfrm>
            <a:off x="962025" y="3216366"/>
            <a:ext cx="4595432" cy="1393074"/>
          </a:xfrm>
          <a:prstGeom prst="rect">
            <a:avLst/>
          </a:prstGeom>
        </p:spPr>
        <p:txBody>
          <a:bodyPr lIns="0" tIns="0" rIns="0" bIns="0" rtlCol="0" anchor="t">
            <a:spAutoFit/>
          </a:bodyPr>
          <a:lstStyle/>
          <a:p>
            <a:pPr>
              <a:lnSpc>
                <a:spcPct val="150000"/>
              </a:lnSpc>
            </a:pPr>
            <a:r>
              <a:rPr lang="en-ID" sz="1500" b="0" i="0" dirty="0" err="1">
                <a:solidFill>
                  <a:schemeClr val="bg2"/>
                </a:solidFill>
                <a:effectLst/>
                <a:latin typeface="Mona Sans VF"/>
              </a:rPr>
              <a:t>Bagaimana</a:t>
            </a:r>
            <a:r>
              <a:rPr lang="en-ID" sz="1500" b="0" i="0" dirty="0">
                <a:solidFill>
                  <a:schemeClr val="bg2"/>
                </a:solidFill>
                <a:effectLst/>
                <a:latin typeface="Mona Sans VF"/>
              </a:rPr>
              <a:t> </a:t>
            </a:r>
            <a:r>
              <a:rPr lang="en-ID" sz="1500" b="0" i="0" dirty="0" err="1">
                <a:solidFill>
                  <a:schemeClr val="bg2"/>
                </a:solidFill>
                <a:effectLst/>
                <a:latin typeface="Mona Sans VF"/>
              </a:rPr>
              <a:t>peran</a:t>
            </a:r>
            <a:r>
              <a:rPr lang="en-ID" sz="1500" b="0" i="0" dirty="0">
                <a:solidFill>
                  <a:schemeClr val="bg2"/>
                </a:solidFill>
                <a:effectLst/>
                <a:latin typeface="Mona Sans VF"/>
              </a:rPr>
              <a:t> </a:t>
            </a:r>
            <a:r>
              <a:rPr lang="en-ID" sz="1500" b="0" i="0" dirty="0" err="1">
                <a:solidFill>
                  <a:schemeClr val="bg2"/>
                </a:solidFill>
                <a:effectLst/>
                <a:latin typeface="Mona Sans VF"/>
              </a:rPr>
              <a:t>struktur</a:t>
            </a:r>
            <a:r>
              <a:rPr lang="en-ID" sz="1500" b="0" i="0" dirty="0">
                <a:solidFill>
                  <a:schemeClr val="bg2"/>
                </a:solidFill>
                <a:effectLst/>
                <a:latin typeface="Mona Sans VF"/>
              </a:rPr>
              <a:t> data queue </a:t>
            </a:r>
            <a:r>
              <a:rPr lang="en-ID" sz="1500" b="0" i="0" dirty="0" err="1">
                <a:solidFill>
                  <a:schemeClr val="bg2"/>
                </a:solidFill>
                <a:effectLst/>
                <a:latin typeface="Mona Sans VF"/>
              </a:rPr>
              <a:t>dalam</a:t>
            </a:r>
            <a:r>
              <a:rPr lang="en-ID" sz="1500" b="0" i="0" dirty="0">
                <a:solidFill>
                  <a:schemeClr val="bg2"/>
                </a:solidFill>
                <a:effectLst/>
                <a:latin typeface="Mona Sans VF"/>
              </a:rPr>
              <a:t> </a:t>
            </a:r>
            <a:r>
              <a:rPr lang="en-ID" sz="1500" b="0" i="0" dirty="0" err="1">
                <a:solidFill>
                  <a:schemeClr val="bg2"/>
                </a:solidFill>
                <a:effectLst/>
                <a:latin typeface="Mona Sans VF"/>
              </a:rPr>
              <a:t>menyimpan</a:t>
            </a:r>
            <a:r>
              <a:rPr lang="en-ID" sz="1500" b="0" i="0" dirty="0">
                <a:solidFill>
                  <a:schemeClr val="bg2"/>
                </a:solidFill>
                <a:effectLst/>
                <a:latin typeface="Mona Sans VF"/>
              </a:rPr>
              <a:t> dan </a:t>
            </a:r>
            <a:r>
              <a:rPr lang="en-ID" sz="1500" b="0" i="0" dirty="0" err="1">
                <a:solidFill>
                  <a:schemeClr val="bg2"/>
                </a:solidFill>
                <a:effectLst/>
                <a:latin typeface="Mona Sans VF"/>
              </a:rPr>
              <a:t>menampilkan</a:t>
            </a:r>
            <a:r>
              <a:rPr lang="en-ID" sz="1500" b="0" i="0" dirty="0">
                <a:solidFill>
                  <a:schemeClr val="bg2"/>
                </a:solidFill>
                <a:effectLst/>
                <a:latin typeface="Mona Sans VF"/>
              </a:rPr>
              <a:t> </a:t>
            </a:r>
            <a:r>
              <a:rPr lang="en-ID" sz="1500" b="0" i="0" dirty="0" err="1">
                <a:solidFill>
                  <a:schemeClr val="bg2"/>
                </a:solidFill>
                <a:effectLst/>
                <a:latin typeface="Mona Sans VF"/>
              </a:rPr>
              <a:t>riwayat</a:t>
            </a:r>
            <a:r>
              <a:rPr lang="en-ID" sz="1500" b="0" i="0" dirty="0">
                <a:solidFill>
                  <a:schemeClr val="bg2"/>
                </a:solidFill>
                <a:effectLst/>
                <a:latin typeface="Mona Sans VF"/>
              </a:rPr>
              <a:t> </a:t>
            </a:r>
            <a:r>
              <a:rPr lang="en-ID" sz="1500" b="0" i="0" dirty="0" err="1">
                <a:solidFill>
                  <a:schemeClr val="bg2"/>
                </a:solidFill>
                <a:effectLst/>
                <a:latin typeface="Mona Sans VF"/>
              </a:rPr>
              <a:t>kunjungan</a:t>
            </a:r>
            <a:r>
              <a:rPr lang="en-ID" sz="1500" b="0" i="0" dirty="0">
                <a:solidFill>
                  <a:schemeClr val="bg2"/>
                </a:solidFill>
                <a:effectLst/>
                <a:latin typeface="Mona Sans VF"/>
              </a:rPr>
              <a:t> website pada </a:t>
            </a:r>
            <a:r>
              <a:rPr lang="en-ID" sz="1500" b="0" i="0" dirty="0" err="1">
                <a:solidFill>
                  <a:schemeClr val="bg2"/>
                </a:solidFill>
                <a:effectLst/>
                <a:latin typeface="Mona Sans VF"/>
              </a:rPr>
              <a:t>sistem</a:t>
            </a:r>
            <a:r>
              <a:rPr lang="en-ID" sz="1500" b="0" i="0" dirty="0">
                <a:solidFill>
                  <a:schemeClr val="bg2"/>
                </a:solidFill>
                <a:effectLst/>
                <a:latin typeface="Mona Sans VF"/>
              </a:rPr>
              <a:t> browser history?</a:t>
            </a:r>
          </a:p>
          <a:p>
            <a:pPr algn="l">
              <a:lnSpc>
                <a:spcPts val="2940"/>
              </a:lnSpc>
            </a:pPr>
            <a:endParaRPr lang="en-US" sz="2100" b="1" dirty="0">
              <a:solidFill>
                <a:srgbClr val="06B6D4"/>
              </a:solidFill>
              <a:latin typeface="Poppins Bold"/>
              <a:ea typeface="Poppins Bold"/>
              <a:cs typeface="Poppins Bold"/>
              <a:sym typeface="Poppins Bold"/>
            </a:endParaRPr>
          </a:p>
        </p:txBody>
      </p:sp>
      <p:sp>
        <p:nvSpPr>
          <p:cNvPr id="18" name="TextBox 18"/>
          <p:cNvSpPr txBox="1"/>
          <p:nvPr/>
        </p:nvSpPr>
        <p:spPr>
          <a:xfrm>
            <a:off x="7779296" y="823865"/>
            <a:ext cx="4603204" cy="1764970"/>
          </a:xfrm>
          <a:prstGeom prst="rect">
            <a:avLst/>
          </a:prstGeom>
        </p:spPr>
        <p:txBody>
          <a:bodyPr lIns="0" tIns="0" rIns="0" bIns="0" rtlCol="0" anchor="t">
            <a:spAutoFit/>
          </a:bodyPr>
          <a:lstStyle/>
          <a:p>
            <a:pPr>
              <a:lnSpc>
                <a:spcPts val="2940"/>
              </a:lnSpc>
            </a:pPr>
            <a:endParaRPr lang="en-US" sz="2100" b="1" dirty="0">
              <a:solidFill>
                <a:srgbClr val="06B6D4"/>
              </a:solidFill>
              <a:latin typeface="Poppins Bold"/>
              <a:ea typeface="Poppins Bold"/>
              <a:cs typeface="Poppins Bold"/>
              <a:sym typeface="Poppins Bold"/>
            </a:endParaRPr>
          </a:p>
          <a:p>
            <a:pPr>
              <a:lnSpc>
                <a:spcPct val="150000"/>
              </a:lnSpc>
            </a:pPr>
            <a:r>
              <a:rPr lang="en-ID" sz="1500" b="0" i="0" dirty="0" err="1">
                <a:solidFill>
                  <a:schemeClr val="bg1">
                    <a:lumMod val="95000"/>
                  </a:schemeClr>
                </a:solidFill>
                <a:effectLst/>
                <a:latin typeface="Mona Sans VF"/>
              </a:rPr>
              <a:t>Bagaimana</a:t>
            </a:r>
            <a:r>
              <a:rPr lang="en-ID" sz="1500" b="0" i="0" dirty="0">
                <a:solidFill>
                  <a:schemeClr val="bg1">
                    <a:lumMod val="95000"/>
                  </a:schemeClr>
                </a:solidFill>
                <a:effectLst/>
                <a:latin typeface="Mona Sans VF"/>
              </a:rPr>
              <a:t> </a:t>
            </a:r>
            <a:r>
              <a:rPr lang="en-ID" sz="1500" b="0" i="0" dirty="0" err="1">
                <a:solidFill>
                  <a:schemeClr val="bg1">
                    <a:lumMod val="95000"/>
                  </a:schemeClr>
                </a:solidFill>
                <a:effectLst/>
                <a:latin typeface="Mona Sans VF"/>
              </a:rPr>
              <a:t>penggunaan</a:t>
            </a:r>
            <a:r>
              <a:rPr lang="en-ID" sz="1500" b="0" i="0" dirty="0">
                <a:solidFill>
                  <a:schemeClr val="bg1">
                    <a:lumMod val="95000"/>
                  </a:schemeClr>
                </a:solidFill>
                <a:effectLst/>
                <a:latin typeface="Mona Sans VF"/>
              </a:rPr>
              <a:t> </a:t>
            </a:r>
            <a:r>
              <a:rPr lang="en-ID" sz="1500" b="0" i="0" dirty="0" err="1">
                <a:solidFill>
                  <a:schemeClr val="bg1">
                    <a:lumMod val="95000"/>
                  </a:schemeClr>
                </a:solidFill>
                <a:effectLst/>
                <a:latin typeface="Mona Sans VF"/>
              </a:rPr>
              <a:t>struktur</a:t>
            </a:r>
            <a:r>
              <a:rPr lang="en-ID" sz="1500" b="0" i="0" dirty="0">
                <a:solidFill>
                  <a:schemeClr val="bg1">
                    <a:lumMod val="95000"/>
                  </a:schemeClr>
                </a:solidFill>
                <a:effectLst/>
                <a:latin typeface="Mona Sans VF"/>
              </a:rPr>
              <a:t> data array </a:t>
            </a:r>
            <a:r>
              <a:rPr lang="en-ID" sz="1500" b="0" i="0" dirty="0" err="1">
                <a:solidFill>
                  <a:schemeClr val="bg1">
                    <a:lumMod val="95000"/>
                  </a:schemeClr>
                </a:solidFill>
                <a:effectLst/>
                <a:latin typeface="Mona Sans VF"/>
              </a:rPr>
              <a:t>dalam</a:t>
            </a:r>
            <a:r>
              <a:rPr lang="en-ID" sz="1500" b="0" i="0" dirty="0">
                <a:solidFill>
                  <a:schemeClr val="bg1">
                    <a:lumMod val="95000"/>
                  </a:schemeClr>
                </a:solidFill>
                <a:effectLst/>
                <a:latin typeface="Mona Sans VF"/>
              </a:rPr>
              <a:t> </a:t>
            </a:r>
            <a:r>
              <a:rPr lang="en-ID" sz="1500" b="0" i="0" dirty="0" err="1">
                <a:solidFill>
                  <a:schemeClr val="bg1">
                    <a:lumMod val="95000"/>
                  </a:schemeClr>
                </a:solidFill>
                <a:effectLst/>
                <a:latin typeface="Mona Sans VF"/>
              </a:rPr>
              <a:t>menyimpan</a:t>
            </a:r>
            <a:r>
              <a:rPr lang="en-ID" sz="1500" b="0" i="0" dirty="0">
                <a:solidFill>
                  <a:schemeClr val="bg1">
                    <a:lumMod val="95000"/>
                  </a:schemeClr>
                </a:solidFill>
                <a:effectLst/>
                <a:latin typeface="Mona Sans VF"/>
              </a:rPr>
              <a:t> dan </a:t>
            </a:r>
            <a:r>
              <a:rPr lang="en-ID" sz="1500" b="0" i="0" dirty="0" err="1">
                <a:solidFill>
                  <a:schemeClr val="bg1">
                    <a:lumMod val="95000"/>
                  </a:schemeClr>
                </a:solidFill>
                <a:effectLst/>
                <a:latin typeface="Mona Sans VF"/>
              </a:rPr>
              <a:t>mengelola</a:t>
            </a:r>
            <a:r>
              <a:rPr lang="en-ID" sz="1500" b="0" i="0" dirty="0">
                <a:solidFill>
                  <a:schemeClr val="bg1">
                    <a:lumMod val="95000"/>
                  </a:schemeClr>
                </a:solidFill>
                <a:effectLst/>
                <a:latin typeface="Mona Sans VF"/>
              </a:rPr>
              <a:t> data history pada </a:t>
            </a:r>
            <a:r>
              <a:rPr lang="en-ID" sz="1500" b="0" i="0" dirty="0" err="1">
                <a:solidFill>
                  <a:schemeClr val="bg1">
                    <a:lumMod val="95000"/>
                  </a:schemeClr>
                </a:solidFill>
                <a:effectLst/>
                <a:latin typeface="Mona Sans VF"/>
              </a:rPr>
              <a:t>sistem</a:t>
            </a:r>
            <a:r>
              <a:rPr lang="en-ID" sz="1500" b="0" i="0" dirty="0">
                <a:solidFill>
                  <a:schemeClr val="bg1">
                    <a:lumMod val="95000"/>
                  </a:schemeClr>
                </a:solidFill>
                <a:effectLst/>
                <a:latin typeface="Mona Sans VF"/>
              </a:rPr>
              <a:t> browser?</a:t>
            </a:r>
          </a:p>
          <a:p>
            <a:pPr algn="l">
              <a:lnSpc>
                <a:spcPts val="2940"/>
              </a:lnSpc>
            </a:pPr>
            <a:endParaRPr lang="en-US" sz="2100" b="1" dirty="0">
              <a:solidFill>
                <a:srgbClr val="06B6D4"/>
              </a:solidFill>
              <a:latin typeface="Poppins Bold"/>
              <a:ea typeface="Poppins Bold"/>
              <a:cs typeface="Poppins Bold"/>
              <a:sym typeface="Poppins Bold"/>
            </a:endParaRPr>
          </a:p>
        </p:txBody>
      </p:sp>
      <p:sp>
        <p:nvSpPr>
          <p:cNvPr id="19" name="TextBox 19"/>
          <p:cNvSpPr txBox="1"/>
          <p:nvPr/>
        </p:nvSpPr>
        <p:spPr>
          <a:xfrm>
            <a:off x="762000" y="577253"/>
            <a:ext cx="4380833"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RUMUSAN MASALAH</a:t>
            </a:r>
          </a:p>
        </p:txBody>
      </p:sp>
      <p:grpSp>
        <p:nvGrpSpPr>
          <p:cNvPr id="20" name="Group 9">
            <a:extLst>
              <a:ext uri="{FF2B5EF4-FFF2-40B4-BE49-F238E27FC236}">
                <a16:creationId xmlns:a16="http://schemas.microsoft.com/office/drawing/2014/main" id="{93FF12F7-FFD7-4099-9F04-509E4F586305}"/>
              </a:ext>
            </a:extLst>
          </p:cNvPr>
          <p:cNvGrpSpPr/>
          <p:nvPr/>
        </p:nvGrpSpPr>
        <p:grpSpPr>
          <a:xfrm>
            <a:off x="7096125" y="3863562"/>
            <a:ext cx="5286375" cy="2476500"/>
            <a:chOff x="0" y="0"/>
            <a:chExt cx="7048500" cy="3302000"/>
          </a:xfrm>
        </p:grpSpPr>
        <p:sp>
          <p:nvSpPr>
            <p:cNvPr id="21" name="Freeform 10">
              <a:extLst>
                <a:ext uri="{FF2B5EF4-FFF2-40B4-BE49-F238E27FC236}">
                  <a16:creationId xmlns:a16="http://schemas.microsoft.com/office/drawing/2014/main" id="{4DE62EB8-8CE9-4AF1-900C-5A6AE38A051F}"/>
                </a:ext>
              </a:extLst>
            </p:cNvPr>
            <p:cNvSpPr/>
            <p:nvPr/>
          </p:nvSpPr>
          <p:spPr>
            <a:xfrm>
              <a:off x="0" y="0"/>
              <a:ext cx="7048500" cy="3302000"/>
            </a:xfrm>
            <a:custGeom>
              <a:avLst/>
              <a:gdLst/>
              <a:ahLst/>
              <a:cxnLst/>
              <a:rect l="l" t="t" r="r" b="b"/>
              <a:pathLst>
                <a:path w="7048500" h="3302000">
                  <a:moveTo>
                    <a:pt x="0" y="0"/>
                  </a:moveTo>
                  <a:lnTo>
                    <a:pt x="7048500" y="0"/>
                  </a:lnTo>
                  <a:lnTo>
                    <a:pt x="7048500" y="3302000"/>
                  </a:lnTo>
                  <a:lnTo>
                    <a:pt x="0" y="3302000"/>
                  </a:lnTo>
                  <a:lnTo>
                    <a:pt x="0" y="0"/>
                  </a:lnTo>
                  <a:close/>
                </a:path>
              </a:pathLst>
            </a:custGeom>
            <a:blipFill>
              <a:blip r:embed="rId7"/>
              <a:stretch>
                <a:fillRect/>
              </a:stretch>
            </a:blipFill>
          </p:spPr>
        </p:sp>
      </p:grpSp>
      <p:sp>
        <p:nvSpPr>
          <p:cNvPr id="23" name="TextBox 22">
            <a:extLst>
              <a:ext uri="{FF2B5EF4-FFF2-40B4-BE49-F238E27FC236}">
                <a16:creationId xmlns:a16="http://schemas.microsoft.com/office/drawing/2014/main" id="{BAC00ED6-EA9B-467A-B68E-B5411C391C0E}"/>
              </a:ext>
            </a:extLst>
          </p:cNvPr>
          <p:cNvSpPr txBox="1"/>
          <p:nvPr/>
        </p:nvSpPr>
        <p:spPr>
          <a:xfrm>
            <a:off x="7740179" y="4481536"/>
            <a:ext cx="4231748" cy="1361911"/>
          </a:xfrm>
          <a:prstGeom prst="rect">
            <a:avLst/>
          </a:prstGeom>
          <a:noFill/>
        </p:spPr>
        <p:txBody>
          <a:bodyPr wrap="square">
            <a:spAutoFit/>
          </a:bodyPr>
          <a:lstStyle/>
          <a:p>
            <a:pPr>
              <a:lnSpc>
                <a:spcPct val="150000"/>
              </a:lnSpc>
            </a:pPr>
            <a:r>
              <a:rPr lang="en-ID" sz="1500" b="0" i="0" dirty="0" err="1">
                <a:solidFill>
                  <a:schemeClr val="bg2"/>
                </a:solidFill>
                <a:effectLst/>
                <a:latin typeface="Lato" panose="020F0502020204030203" pitchFamily="34" charset="0"/>
              </a:rPr>
              <a:t>Bagaimana</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sistem</a:t>
            </a:r>
            <a:r>
              <a:rPr lang="en-ID" sz="1500" b="0" i="0" dirty="0">
                <a:solidFill>
                  <a:schemeClr val="bg2"/>
                </a:solidFill>
                <a:effectLst/>
                <a:latin typeface="Lato" panose="020F0502020204030203" pitchFamily="34" charset="0"/>
              </a:rPr>
              <a:t> browser history yang </a:t>
            </a:r>
            <a:r>
              <a:rPr lang="en-ID" sz="1500" b="0" i="0" dirty="0" err="1">
                <a:solidFill>
                  <a:schemeClr val="bg2"/>
                </a:solidFill>
                <a:effectLst/>
                <a:latin typeface="Lato" panose="020F0502020204030203" pitchFamily="34" charset="0"/>
              </a:rPr>
              <a:t>dirancang</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dapat</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membantu</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pengguna</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dalam</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mengelola</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aktivitas</a:t>
            </a:r>
            <a:r>
              <a:rPr lang="en-ID" sz="1500" b="0" i="0" dirty="0">
                <a:solidFill>
                  <a:schemeClr val="bg2"/>
                </a:solidFill>
                <a:effectLst/>
                <a:latin typeface="Lato" panose="020F0502020204030203" pitchFamily="34" charset="0"/>
              </a:rPr>
              <a:t> </a:t>
            </a:r>
            <a:r>
              <a:rPr lang="en-ID" sz="1500" b="0" i="0" dirty="0" err="1">
                <a:solidFill>
                  <a:schemeClr val="bg2"/>
                </a:solidFill>
                <a:effectLst/>
                <a:latin typeface="Lato" panose="020F0502020204030203" pitchFamily="34" charset="0"/>
              </a:rPr>
              <a:t>penelusuran</a:t>
            </a:r>
            <a:r>
              <a:rPr lang="en-ID" sz="1500" b="0" i="0" dirty="0">
                <a:solidFill>
                  <a:schemeClr val="bg2"/>
                </a:solidFill>
                <a:effectLst/>
                <a:latin typeface="Lato" panose="020F0502020204030203" pitchFamily="34" charset="0"/>
              </a:rPr>
              <a:t> internet?</a:t>
            </a:r>
          </a:p>
          <a:p>
            <a:endParaRPr lang="en-ID" sz="1500" b="0" i="0" dirty="0">
              <a:solidFill>
                <a:schemeClr val="bg2"/>
              </a:solidFill>
              <a:effectLst/>
              <a:latin typeface="Lato" panose="020F050202020403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571500" y="2243138"/>
            <a:ext cx="3492551" cy="3371850"/>
          </a:xfrm>
          <a:custGeom>
            <a:avLst/>
            <a:gdLst/>
            <a:ahLst/>
            <a:cxnLst/>
            <a:rect l="l" t="t" r="r" b="b"/>
            <a:pathLst>
              <a:path w="3492551" h="3371850">
                <a:moveTo>
                  <a:pt x="0" y="0"/>
                </a:moveTo>
                <a:lnTo>
                  <a:pt x="3492551" y="0"/>
                </a:lnTo>
                <a:lnTo>
                  <a:pt x="3492551" y="3371850"/>
                </a:lnTo>
                <a:lnTo>
                  <a:pt x="0" y="33718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571500" y="2243138"/>
            <a:ext cx="3492551" cy="3371850"/>
            <a:chOff x="0" y="0"/>
            <a:chExt cx="4656734" cy="4495800"/>
          </a:xfrm>
        </p:grpSpPr>
        <p:sp>
          <p:nvSpPr>
            <p:cNvPr id="7" name="Freeform 7"/>
            <p:cNvSpPr/>
            <p:nvPr/>
          </p:nvSpPr>
          <p:spPr>
            <a:xfrm>
              <a:off x="0" y="0"/>
              <a:ext cx="4656709" cy="4495800"/>
            </a:xfrm>
            <a:custGeom>
              <a:avLst/>
              <a:gdLst/>
              <a:ahLst/>
              <a:cxnLst/>
              <a:rect l="l" t="t" r="r" b="b"/>
              <a:pathLst>
                <a:path w="4656709" h="4495800">
                  <a:moveTo>
                    <a:pt x="0" y="0"/>
                  </a:moveTo>
                  <a:lnTo>
                    <a:pt x="4656709" y="0"/>
                  </a:lnTo>
                  <a:lnTo>
                    <a:pt x="4656709" y="4495800"/>
                  </a:lnTo>
                  <a:lnTo>
                    <a:pt x="0" y="4495800"/>
                  </a:lnTo>
                  <a:lnTo>
                    <a:pt x="0" y="0"/>
                  </a:lnTo>
                  <a:close/>
                </a:path>
              </a:pathLst>
            </a:custGeom>
            <a:blipFill>
              <a:blip r:embed="rId7"/>
              <a:stretch>
                <a:fillRect/>
              </a:stretch>
            </a:blipFill>
          </p:spPr>
        </p:sp>
      </p:grpSp>
      <p:sp>
        <p:nvSpPr>
          <p:cNvPr id="8" name="Freeform 8"/>
          <p:cNvSpPr/>
          <p:nvPr/>
        </p:nvSpPr>
        <p:spPr>
          <a:xfrm>
            <a:off x="4349801" y="2243138"/>
            <a:ext cx="3492551" cy="3371850"/>
          </a:xfrm>
          <a:custGeom>
            <a:avLst/>
            <a:gdLst/>
            <a:ahLst/>
            <a:cxnLst/>
            <a:rect l="l" t="t" r="r" b="b"/>
            <a:pathLst>
              <a:path w="3492551" h="3371850">
                <a:moveTo>
                  <a:pt x="0" y="0"/>
                </a:moveTo>
                <a:lnTo>
                  <a:pt x="3492551" y="0"/>
                </a:lnTo>
                <a:lnTo>
                  <a:pt x="3492551" y="3371850"/>
                </a:lnTo>
                <a:lnTo>
                  <a:pt x="0" y="3371850"/>
                </a:lnTo>
                <a:lnTo>
                  <a:pt x="0" y="0"/>
                </a:lnTo>
                <a:close/>
              </a:path>
            </a:pathLst>
          </a:custGeom>
          <a:blipFill>
            <a:blip r:embed="rId5">
              <a:extLst>
                <a:ext uri="{96DAC541-7B7A-43D3-8B79-37D633B846F1}">
                  <asvg:svgBlip xmlns:asvg="http://schemas.microsoft.com/office/drawing/2016/SVG/main" r:embed="rId8"/>
                </a:ext>
              </a:extLst>
            </a:blip>
            <a:stretch>
              <a:fillRect/>
            </a:stretch>
          </a:blipFill>
        </p:spPr>
      </p:sp>
      <p:sp>
        <p:nvSpPr>
          <p:cNvPr id="9" name="Freeform 9"/>
          <p:cNvSpPr/>
          <p:nvPr/>
        </p:nvSpPr>
        <p:spPr>
          <a:xfrm>
            <a:off x="8128102" y="2243138"/>
            <a:ext cx="3492551" cy="3371850"/>
          </a:xfrm>
          <a:custGeom>
            <a:avLst/>
            <a:gdLst/>
            <a:ahLst/>
            <a:cxnLst/>
            <a:rect l="l" t="t" r="r" b="b"/>
            <a:pathLst>
              <a:path w="3492551" h="3371850">
                <a:moveTo>
                  <a:pt x="0" y="0"/>
                </a:moveTo>
                <a:lnTo>
                  <a:pt x="3492550" y="0"/>
                </a:lnTo>
                <a:lnTo>
                  <a:pt x="3492550" y="3371850"/>
                </a:lnTo>
                <a:lnTo>
                  <a:pt x="0" y="3371850"/>
                </a:lnTo>
                <a:lnTo>
                  <a:pt x="0" y="0"/>
                </a:lnTo>
                <a:close/>
              </a:path>
            </a:pathLst>
          </a:custGeom>
          <a:blipFill>
            <a:blip r:embed="rId5">
              <a:extLst>
                <a:ext uri="{96DAC541-7B7A-43D3-8B79-37D633B846F1}">
                  <asvg:svgBlip xmlns:asvg="http://schemas.microsoft.com/office/drawing/2016/SVG/main" r:embed="rId9"/>
                </a:ext>
              </a:extLst>
            </a:blip>
            <a:stretch>
              <a:fillRect/>
            </a:stretch>
          </a:blipFill>
        </p:spPr>
      </p:sp>
      <p:grpSp>
        <p:nvGrpSpPr>
          <p:cNvPr id="10" name="Group 10"/>
          <p:cNvGrpSpPr/>
          <p:nvPr/>
        </p:nvGrpSpPr>
        <p:grpSpPr>
          <a:xfrm>
            <a:off x="4349801" y="2243138"/>
            <a:ext cx="7270852" cy="3371850"/>
            <a:chOff x="0" y="0"/>
            <a:chExt cx="9694469" cy="4495800"/>
          </a:xfrm>
        </p:grpSpPr>
        <p:sp>
          <p:nvSpPr>
            <p:cNvPr id="11" name="Freeform 11"/>
            <p:cNvSpPr/>
            <p:nvPr/>
          </p:nvSpPr>
          <p:spPr>
            <a:xfrm>
              <a:off x="0" y="0"/>
              <a:ext cx="9694418" cy="4495800"/>
            </a:xfrm>
            <a:custGeom>
              <a:avLst/>
              <a:gdLst/>
              <a:ahLst/>
              <a:cxnLst/>
              <a:rect l="l" t="t" r="r" b="b"/>
              <a:pathLst>
                <a:path w="9694418" h="4495800">
                  <a:moveTo>
                    <a:pt x="0" y="0"/>
                  </a:moveTo>
                  <a:lnTo>
                    <a:pt x="9694418" y="0"/>
                  </a:lnTo>
                  <a:lnTo>
                    <a:pt x="9694418" y="4495800"/>
                  </a:lnTo>
                  <a:lnTo>
                    <a:pt x="0" y="4495800"/>
                  </a:lnTo>
                  <a:lnTo>
                    <a:pt x="0" y="0"/>
                  </a:lnTo>
                  <a:close/>
                </a:path>
              </a:pathLst>
            </a:custGeom>
            <a:blipFill>
              <a:blip r:embed="rId10"/>
              <a:stretch>
                <a:fillRect/>
              </a:stretch>
            </a:blipFill>
          </p:spPr>
          <p:txBody>
            <a:bodyPr/>
            <a:lstStyle/>
            <a:p>
              <a:endParaRPr lang="en-ID"/>
            </a:p>
          </p:txBody>
        </p:sp>
      </p:grpSp>
      <p:sp>
        <p:nvSpPr>
          <p:cNvPr id="12" name="Freeform 12"/>
          <p:cNvSpPr/>
          <p:nvPr/>
        </p:nvSpPr>
        <p:spPr>
          <a:xfrm>
            <a:off x="784222" y="3290888"/>
            <a:ext cx="3067098" cy="400050"/>
          </a:xfrm>
          <a:custGeom>
            <a:avLst/>
            <a:gdLst/>
            <a:ahLst/>
            <a:cxnLst/>
            <a:rect l="l" t="t" r="r" b="b"/>
            <a:pathLst>
              <a:path w="3067098" h="400050">
                <a:moveTo>
                  <a:pt x="0" y="0"/>
                </a:moveTo>
                <a:lnTo>
                  <a:pt x="3067097" y="0"/>
                </a:lnTo>
                <a:lnTo>
                  <a:pt x="3067097" y="400050"/>
                </a:lnTo>
                <a:lnTo>
                  <a:pt x="0" y="4000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3" name="Freeform 13"/>
          <p:cNvSpPr/>
          <p:nvPr/>
        </p:nvSpPr>
        <p:spPr>
          <a:xfrm>
            <a:off x="857250" y="3881438"/>
            <a:ext cx="2921051" cy="1219200"/>
          </a:xfrm>
          <a:custGeom>
            <a:avLst/>
            <a:gdLst/>
            <a:ahLst/>
            <a:cxnLst/>
            <a:rect l="l" t="t" r="r" b="b"/>
            <a:pathLst>
              <a:path w="2921051" h="1219200">
                <a:moveTo>
                  <a:pt x="0" y="0"/>
                </a:moveTo>
                <a:lnTo>
                  <a:pt x="2921051" y="0"/>
                </a:lnTo>
                <a:lnTo>
                  <a:pt x="2921051" y="1219200"/>
                </a:lnTo>
                <a:lnTo>
                  <a:pt x="0" y="12192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4" name="Freeform 14"/>
          <p:cNvSpPr/>
          <p:nvPr/>
        </p:nvSpPr>
        <p:spPr>
          <a:xfrm>
            <a:off x="2050999" y="2576512"/>
            <a:ext cx="533400" cy="476250"/>
          </a:xfrm>
          <a:custGeom>
            <a:avLst/>
            <a:gdLst/>
            <a:ahLst/>
            <a:cxnLst/>
            <a:rect l="l" t="t" r="r" b="b"/>
            <a:pathLst>
              <a:path w="533400" h="476250">
                <a:moveTo>
                  <a:pt x="0" y="0"/>
                </a:moveTo>
                <a:lnTo>
                  <a:pt x="533400" y="0"/>
                </a:lnTo>
                <a:lnTo>
                  <a:pt x="533400" y="476250"/>
                </a:lnTo>
                <a:lnTo>
                  <a:pt x="0" y="47625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5" name="Freeform 15"/>
          <p:cNvSpPr/>
          <p:nvPr/>
        </p:nvSpPr>
        <p:spPr>
          <a:xfrm>
            <a:off x="4562523" y="3290888"/>
            <a:ext cx="3067098" cy="400050"/>
          </a:xfrm>
          <a:custGeom>
            <a:avLst/>
            <a:gdLst/>
            <a:ahLst/>
            <a:cxnLst/>
            <a:rect l="l" t="t" r="r" b="b"/>
            <a:pathLst>
              <a:path w="3067098" h="400050">
                <a:moveTo>
                  <a:pt x="0" y="0"/>
                </a:moveTo>
                <a:lnTo>
                  <a:pt x="3067097" y="0"/>
                </a:lnTo>
                <a:lnTo>
                  <a:pt x="3067097" y="400050"/>
                </a:lnTo>
                <a:lnTo>
                  <a:pt x="0" y="400050"/>
                </a:lnTo>
                <a:lnTo>
                  <a:pt x="0" y="0"/>
                </a:lnTo>
                <a:close/>
              </a:path>
            </a:pathLst>
          </a:custGeom>
          <a:blipFill>
            <a:blip r:embed="rId11">
              <a:extLst>
                <a:ext uri="{96DAC541-7B7A-43D3-8B79-37D633B846F1}">
                  <asvg:svgBlip xmlns:asvg="http://schemas.microsoft.com/office/drawing/2016/SVG/main" r:embed="rId17"/>
                </a:ext>
              </a:extLst>
            </a:blip>
            <a:stretch>
              <a:fillRect/>
            </a:stretch>
          </a:blipFill>
        </p:spPr>
      </p:sp>
      <p:sp>
        <p:nvSpPr>
          <p:cNvPr id="16" name="Freeform 16"/>
          <p:cNvSpPr/>
          <p:nvPr/>
        </p:nvSpPr>
        <p:spPr>
          <a:xfrm>
            <a:off x="4635551" y="3881438"/>
            <a:ext cx="2921051" cy="1219200"/>
          </a:xfrm>
          <a:custGeom>
            <a:avLst/>
            <a:gdLst/>
            <a:ahLst/>
            <a:cxnLst/>
            <a:rect l="l" t="t" r="r" b="b"/>
            <a:pathLst>
              <a:path w="2921051" h="1219200">
                <a:moveTo>
                  <a:pt x="0" y="0"/>
                </a:moveTo>
                <a:lnTo>
                  <a:pt x="2921051" y="0"/>
                </a:lnTo>
                <a:lnTo>
                  <a:pt x="2921051" y="1219200"/>
                </a:lnTo>
                <a:lnTo>
                  <a:pt x="0" y="1219200"/>
                </a:lnTo>
                <a:lnTo>
                  <a:pt x="0" y="0"/>
                </a:lnTo>
                <a:close/>
              </a:path>
            </a:pathLst>
          </a:custGeom>
          <a:blipFill>
            <a:blip r:embed="rId13">
              <a:extLst>
                <a:ext uri="{96DAC541-7B7A-43D3-8B79-37D633B846F1}">
                  <asvg:svgBlip xmlns:asvg="http://schemas.microsoft.com/office/drawing/2016/SVG/main" r:embed="rId18"/>
                </a:ext>
              </a:extLst>
            </a:blip>
            <a:stretch>
              <a:fillRect/>
            </a:stretch>
          </a:blipFill>
        </p:spPr>
      </p:sp>
      <p:sp>
        <p:nvSpPr>
          <p:cNvPr id="17" name="Freeform 17"/>
          <p:cNvSpPr/>
          <p:nvPr/>
        </p:nvSpPr>
        <p:spPr>
          <a:xfrm>
            <a:off x="8340823" y="3290888"/>
            <a:ext cx="3067098" cy="400050"/>
          </a:xfrm>
          <a:custGeom>
            <a:avLst/>
            <a:gdLst/>
            <a:ahLst/>
            <a:cxnLst/>
            <a:rect l="l" t="t" r="r" b="b"/>
            <a:pathLst>
              <a:path w="3067098" h="400050">
                <a:moveTo>
                  <a:pt x="0" y="0"/>
                </a:moveTo>
                <a:lnTo>
                  <a:pt x="3067098" y="0"/>
                </a:lnTo>
                <a:lnTo>
                  <a:pt x="3067098" y="400050"/>
                </a:lnTo>
                <a:lnTo>
                  <a:pt x="0" y="400050"/>
                </a:lnTo>
                <a:lnTo>
                  <a:pt x="0" y="0"/>
                </a:lnTo>
                <a:close/>
              </a:path>
            </a:pathLst>
          </a:custGeom>
          <a:blipFill>
            <a:blip r:embed="rId11">
              <a:extLst>
                <a:ext uri="{96DAC541-7B7A-43D3-8B79-37D633B846F1}">
                  <asvg:svgBlip xmlns:asvg="http://schemas.microsoft.com/office/drawing/2016/SVG/main" r:embed="rId19"/>
                </a:ext>
              </a:extLst>
            </a:blip>
            <a:stretch>
              <a:fillRect/>
            </a:stretch>
          </a:blipFill>
        </p:spPr>
      </p:sp>
      <p:sp>
        <p:nvSpPr>
          <p:cNvPr id="18" name="Freeform 18"/>
          <p:cNvSpPr/>
          <p:nvPr/>
        </p:nvSpPr>
        <p:spPr>
          <a:xfrm>
            <a:off x="8413852" y="3881438"/>
            <a:ext cx="2921051" cy="1219200"/>
          </a:xfrm>
          <a:custGeom>
            <a:avLst/>
            <a:gdLst/>
            <a:ahLst/>
            <a:cxnLst/>
            <a:rect l="l" t="t" r="r" b="b"/>
            <a:pathLst>
              <a:path w="2921051" h="1219200">
                <a:moveTo>
                  <a:pt x="0" y="0"/>
                </a:moveTo>
                <a:lnTo>
                  <a:pt x="2921050" y="0"/>
                </a:lnTo>
                <a:lnTo>
                  <a:pt x="2921050" y="1219200"/>
                </a:lnTo>
                <a:lnTo>
                  <a:pt x="0" y="1219200"/>
                </a:lnTo>
                <a:lnTo>
                  <a:pt x="0" y="0"/>
                </a:lnTo>
                <a:close/>
              </a:path>
            </a:pathLst>
          </a:custGeom>
          <a:blipFill>
            <a:blip r:embed="rId13">
              <a:extLst>
                <a:ext uri="{96DAC541-7B7A-43D3-8B79-37D633B846F1}">
                  <asvg:svgBlip xmlns:asvg="http://schemas.microsoft.com/office/drawing/2016/SVG/main" r:embed="rId20"/>
                </a:ext>
              </a:extLst>
            </a:blip>
            <a:stretch>
              <a:fillRect/>
            </a:stretch>
          </a:blipFill>
        </p:spPr>
      </p:sp>
      <p:grpSp>
        <p:nvGrpSpPr>
          <p:cNvPr id="19" name="Group 19"/>
          <p:cNvGrpSpPr/>
          <p:nvPr/>
        </p:nvGrpSpPr>
        <p:grpSpPr>
          <a:xfrm>
            <a:off x="9601200" y="2419350"/>
            <a:ext cx="533400" cy="476250"/>
            <a:chOff x="0" y="0"/>
            <a:chExt cx="711200" cy="635000"/>
          </a:xfrm>
        </p:grpSpPr>
        <p:sp>
          <p:nvSpPr>
            <p:cNvPr id="20" name="Freeform 20"/>
            <p:cNvSpPr/>
            <p:nvPr/>
          </p:nvSpPr>
          <p:spPr>
            <a:xfrm>
              <a:off x="0" y="0"/>
              <a:ext cx="711200" cy="635000"/>
            </a:xfrm>
            <a:custGeom>
              <a:avLst/>
              <a:gdLst/>
              <a:ahLst/>
              <a:cxnLst/>
              <a:rect l="l" t="t" r="r" b="b"/>
              <a:pathLst>
                <a:path w="711200" h="635000">
                  <a:moveTo>
                    <a:pt x="0" y="0"/>
                  </a:moveTo>
                  <a:lnTo>
                    <a:pt x="711200" y="0"/>
                  </a:lnTo>
                  <a:lnTo>
                    <a:pt x="711200" y="635000"/>
                  </a:lnTo>
                  <a:lnTo>
                    <a:pt x="0" y="635000"/>
                  </a:lnTo>
                  <a:lnTo>
                    <a:pt x="0" y="0"/>
                  </a:lnTo>
                  <a:close/>
                </a:path>
              </a:pathLst>
            </a:custGeom>
            <a:blipFill>
              <a:blip r:embed="rId21"/>
              <a:stretch>
                <a:fillRect/>
              </a:stretch>
            </a:blipFill>
          </p:spPr>
        </p:sp>
      </p:grpSp>
      <p:sp>
        <p:nvSpPr>
          <p:cNvPr id="21" name="Freeform 21"/>
          <p:cNvSpPr/>
          <p:nvPr/>
        </p:nvSpPr>
        <p:spPr>
          <a:xfrm>
            <a:off x="5857875" y="2576512"/>
            <a:ext cx="476250" cy="476250"/>
          </a:xfrm>
          <a:custGeom>
            <a:avLst/>
            <a:gdLst/>
            <a:ahLst/>
            <a:cxnLst/>
            <a:rect l="l" t="t" r="r" b="b"/>
            <a:pathLst>
              <a:path w="476250" h="476250">
                <a:moveTo>
                  <a:pt x="0" y="0"/>
                </a:moveTo>
                <a:lnTo>
                  <a:pt x="476250" y="0"/>
                </a:lnTo>
                <a:lnTo>
                  <a:pt x="476250" y="476250"/>
                </a:lnTo>
                <a:lnTo>
                  <a:pt x="0" y="47625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2" name="Freeform 22"/>
          <p:cNvSpPr/>
          <p:nvPr/>
        </p:nvSpPr>
        <p:spPr>
          <a:xfrm>
            <a:off x="9636176" y="2576512"/>
            <a:ext cx="476250" cy="476250"/>
          </a:xfrm>
          <a:custGeom>
            <a:avLst/>
            <a:gdLst/>
            <a:ahLst/>
            <a:cxnLst/>
            <a:rect l="l" t="t" r="r" b="b"/>
            <a:pathLst>
              <a:path w="476250" h="476250">
                <a:moveTo>
                  <a:pt x="0" y="0"/>
                </a:moveTo>
                <a:lnTo>
                  <a:pt x="476250" y="0"/>
                </a:lnTo>
                <a:lnTo>
                  <a:pt x="476250" y="476250"/>
                </a:lnTo>
                <a:lnTo>
                  <a:pt x="0" y="476250"/>
                </a:lnTo>
                <a:lnTo>
                  <a:pt x="0" y="0"/>
                </a:lnTo>
                <a:close/>
              </a:path>
            </a:pathLst>
          </a:custGeom>
          <a:blipFill>
            <a:blip r:embed="rId22">
              <a:extLst>
                <a:ext uri="{96DAC541-7B7A-43D3-8B79-37D633B846F1}">
                  <asvg:svgBlip xmlns:asvg="http://schemas.microsoft.com/office/drawing/2016/SVG/main" r:embed="rId24"/>
                </a:ext>
              </a:extLst>
            </a:blip>
            <a:stretch>
              <a:fillRect/>
            </a:stretch>
          </a:blipFill>
        </p:spPr>
      </p:sp>
      <p:grpSp>
        <p:nvGrpSpPr>
          <p:cNvPr id="23" name="Group 23"/>
          <p:cNvGrpSpPr/>
          <p:nvPr/>
        </p:nvGrpSpPr>
        <p:grpSpPr>
          <a:xfrm>
            <a:off x="2155697" y="2438400"/>
            <a:ext cx="476250" cy="476250"/>
            <a:chOff x="0" y="0"/>
            <a:chExt cx="635000" cy="635000"/>
          </a:xfrm>
        </p:grpSpPr>
        <p:sp>
          <p:nvSpPr>
            <p:cNvPr id="24" name="Freeform 24"/>
            <p:cNvSpPr/>
            <p:nvPr/>
          </p:nvSpPr>
          <p:spPr>
            <a:xfrm>
              <a:off x="0" y="0"/>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blipFill>
              <a:blip r:embed="rId25"/>
              <a:stretch>
                <a:fillRect/>
              </a:stretch>
            </a:blipFill>
          </p:spPr>
        </p:sp>
      </p:grpSp>
      <p:grpSp>
        <p:nvGrpSpPr>
          <p:cNvPr id="25" name="Group 25"/>
          <p:cNvGrpSpPr/>
          <p:nvPr/>
        </p:nvGrpSpPr>
        <p:grpSpPr>
          <a:xfrm>
            <a:off x="5848350" y="2419350"/>
            <a:ext cx="476250" cy="476250"/>
            <a:chOff x="0" y="0"/>
            <a:chExt cx="635000" cy="635000"/>
          </a:xfrm>
        </p:grpSpPr>
        <p:sp>
          <p:nvSpPr>
            <p:cNvPr id="26" name="Freeform 26"/>
            <p:cNvSpPr/>
            <p:nvPr/>
          </p:nvSpPr>
          <p:spPr>
            <a:xfrm>
              <a:off x="0" y="0"/>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blipFill>
              <a:blip r:embed="rId26"/>
              <a:stretch>
                <a:fillRect/>
              </a:stretch>
            </a:blipFill>
          </p:spPr>
        </p:sp>
      </p:grpSp>
      <p:sp>
        <p:nvSpPr>
          <p:cNvPr id="27" name="Freeform 27"/>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28" name="Freeform 28"/>
          <p:cNvSpPr/>
          <p:nvPr/>
        </p:nvSpPr>
        <p:spPr>
          <a:xfrm>
            <a:off x="762000" y="571500"/>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29" name="TextBox 29"/>
          <p:cNvSpPr txBox="1"/>
          <p:nvPr/>
        </p:nvSpPr>
        <p:spPr>
          <a:xfrm>
            <a:off x="8443780" y="3290888"/>
            <a:ext cx="2891142" cy="1878254"/>
          </a:xfrm>
          <a:prstGeom prst="rect">
            <a:avLst/>
          </a:prstGeom>
        </p:spPr>
        <p:txBody>
          <a:bodyPr lIns="0" tIns="0" rIns="0" bIns="0" rtlCol="0" anchor="t">
            <a:spAutoFit/>
          </a:bodyPr>
          <a:lstStyle/>
          <a:p>
            <a:pPr algn="ctr">
              <a:lnSpc>
                <a:spcPts val="2940"/>
              </a:lnSpc>
            </a:pPr>
            <a:r>
              <a:rPr lang="en-US" sz="2100" b="1" dirty="0">
                <a:solidFill>
                  <a:srgbClr val="06B6D4"/>
                </a:solidFill>
                <a:latin typeface="Poppins Bold"/>
                <a:ea typeface="Poppins Bold"/>
                <a:cs typeface="Poppins Bold"/>
                <a:sym typeface="Poppins Bold"/>
              </a:rPr>
              <a:t>Stack (LIFO)</a:t>
            </a:r>
          </a:p>
          <a:p>
            <a:pPr algn="ctr">
              <a:lnSpc>
                <a:spcPts val="2879"/>
              </a:lnSpc>
            </a:pPr>
            <a:r>
              <a:rPr lang="en-US" sz="1500" dirty="0" err="1">
                <a:solidFill>
                  <a:srgbClr val="CBD5E1"/>
                </a:solidFill>
                <a:latin typeface="Lato"/>
                <a:ea typeface="Lato"/>
                <a:cs typeface="Lato"/>
                <a:sym typeface="Lato"/>
              </a:rPr>
              <a:t>Mengatur</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ﬁtur</a:t>
            </a:r>
            <a:r>
              <a:rPr lang="en-US" sz="1500" dirty="0">
                <a:solidFill>
                  <a:srgbClr val="CBD5E1"/>
                </a:solidFill>
                <a:latin typeface="Lato"/>
                <a:ea typeface="Lato"/>
                <a:cs typeface="Lato"/>
                <a:sym typeface="Lato"/>
              </a:rPr>
              <a:t> </a:t>
            </a:r>
            <a:r>
              <a:rPr lang="en-US" sz="1500" b="1" dirty="0">
                <a:solidFill>
                  <a:srgbClr val="CBD5E1"/>
                </a:solidFill>
                <a:latin typeface="Lato Bold"/>
                <a:ea typeface="Lato Bold"/>
                <a:cs typeface="Lato Bold"/>
                <a:sym typeface="Lato Bold"/>
              </a:rPr>
              <a:t>Back</a:t>
            </a:r>
            <a:r>
              <a:rPr lang="en-US" sz="1500" dirty="0">
                <a:solidFill>
                  <a:srgbClr val="CBD5E1"/>
                </a:solidFill>
                <a:latin typeface="Lato"/>
                <a:ea typeface="Lato"/>
                <a:cs typeface="Lato"/>
                <a:sym typeface="Lato"/>
              </a:rPr>
              <a:t> &amp; </a:t>
            </a:r>
            <a:r>
              <a:rPr lang="en-US" sz="1500" b="1" dirty="0">
                <a:solidFill>
                  <a:srgbClr val="CBD5E1"/>
                </a:solidFill>
                <a:latin typeface="Lato Bold"/>
                <a:ea typeface="Lato Bold"/>
                <a:cs typeface="Lato Bold"/>
                <a:sym typeface="Lato Bold"/>
              </a:rPr>
              <a:t>Forward</a:t>
            </a:r>
            <a:r>
              <a:rPr lang="en-US" sz="1500" dirty="0">
                <a:solidFill>
                  <a:srgbClr val="CBD5E1"/>
                </a:solidFill>
                <a:latin typeface="Lato"/>
                <a:ea typeface="Lato"/>
                <a:cs typeface="Lato"/>
                <a:sym typeface="Lato"/>
              </a:rPr>
              <a:t>. Halaman </a:t>
            </a:r>
            <a:r>
              <a:rPr lang="en-US" sz="1500" dirty="0" err="1">
                <a:solidFill>
                  <a:srgbClr val="CBD5E1"/>
                </a:solidFill>
                <a:latin typeface="Lato"/>
                <a:ea typeface="Lato"/>
                <a:cs typeface="Lato"/>
                <a:sym typeface="Lato"/>
              </a:rPr>
              <a:t>terakhir</a:t>
            </a:r>
            <a:r>
              <a:rPr lang="en-US" sz="1500" dirty="0">
                <a:solidFill>
                  <a:srgbClr val="CBD5E1"/>
                </a:solidFill>
                <a:latin typeface="Lato"/>
                <a:ea typeface="Lato"/>
                <a:cs typeface="Lato"/>
                <a:sym typeface="Lato"/>
              </a:rPr>
              <a:t> yang </a:t>
            </a:r>
            <a:r>
              <a:rPr lang="en-US" sz="1500" dirty="0" err="1">
                <a:solidFill>
                  <a:srgbClr val="CBD5E1"/>
                </a:solidFill>
                <a:latin typeface="Lato"/>
                <a:ea typeface="Lato"/>
                <a:cs typeface="Lato"/>
                <a:sym typeface="Lato"/>
              </a:rPr>
              <a:t>dikunjungi</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menjadi</a:t>
            </a:r>
            <a:r>
              <a:rPr lang="en-US" sz="1500" dirty="0">
                <a:solidFill>
                  <a:srgbClr val="CBD5E1"/>
                </a:solidFill>
                <a:latin typeface="Lato"/>
                <a:ea typeface="Lato"/>
                <a:cs typeface="Lato"/>
                <a:sym typeface="Lato"/>
              </a:rPr>
              <a:t> yang </a:t>
            </a:r>
            <a:r>
              <a:rPr lang="en-US" sz="1500" dirty="0" err="1">
                <a:solidFill>
                  <a:srgbClr val="CBD5E1"/>
                </a:solidFill>
                <a:latin typeface="Lato"/>
                <a:ea typeface="Lato"/>
                <a:cs typeface="Lato"/>
                <a:sym typeface="Lato"/>
              </a:rPr>
              <a:t>pertama</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diakses</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kembali</a:t>
            </a:r>
            <a:r>
              <a:rPr lang="en-US" sz="1500" dirty="0">
                <a:solidFill>
                  <a:srgbClr val="CBD5E1"/>
                </a:solidFill>
                <a:latin typeface="Lato"/>
                <a:ea typeface="Lato"/>
                <a:cs typeface="Lato"/>
                <a:sym typeface="Lato"/>
              </a:rPr>
              <a:t>.</a:t>
            </a:r>
          </a:p>
        </p:txBody>
      </p:sp>
      <p:sp>
        <p:nvSpPr>
          <p:cNvPr id="30" name="TextBox 30"/>
          <p:cNvSpPr txBox="1"/>
          <p:nvPr/>
        </p:nvSpPr>
        <p:spPr>
          <a:xfrm>
            <a:off x="1027607" y="3307998"/>
            <a:ext cx="2754154" cy="1878254"/>
          </a:xfrm>
          <a:prstGeom prst="rect">
            <a:avLst/>
          </a:prstGeom>
        </p:spPr>
        <p:txBody>
          <a:bodyPr lIns="0" tIns="0" rIns="0" bIns="0" rtlCol="0" anchor="t">
            <a:spAutoFit/>
          </a:bodyPr>
          <a:lstStyle/>
          <a:p>
            <a:pPr algn="ctr">
              <a:lnSpc>
                <a:spcPts val="2940"/>
              </a:lnSpc>
            </a:pPr>
            <a:r>
              <a:rPr lang="en-US" sz="2100" b="1" dirty="0">
                <a:solidFill>
                  <a:srgbClr val="06B6D4"/>
                </a:solidFill>
                <a:latin typeface="Poppins Bold"/>
                <a:ea typeface="Poppins Bold"/>
                <a:cs typeface="Poppins Bold"/>
                <a:sym typeface="Poppins Bold"/>
              </a:rPr>
              <a:t>Queue (FIFO)</a:t>
            </a:r>
          </a:p>
          <a:p>
            <a:pPr algn="ctr">
              <a:lnSpc>
                <a:spcPts val="2879"/>
              </a:lnSpc>
            </a:pPr>
            <a:r>
              <a:rPr lang="en-US" sz="1500" dirty="0" err="1">
                <a:solidFill>
                  <a:srgbClr val="CBD5E1"/>
                </a:solidFill>
                <a:latin typeface="Lato"/>
                <a:ea typeface="Lato"/>
                <a:cs typeface="Lato"/>
                <a:sym typeface="Lato"/>
              </a:rPr>
              <a:t>Menyimpan</a:t>
            </a:r>
            <a:r>
              <a:rPr lang="en-US" sz="1500" dirty="0">
                <a:solidFill>
                  <a:srgbClr val="CBD5E1"/>
                </a:solidFill>
                <a:latin typeface="Lato"/>
                <a:ea typeface="Lato"/>
                <a:cs typeface="Lato"/>
                <a:sym typeface="Lato"/>
              </a:rPr>
              <a:t> </a:t>
            </a:r>
            <a:r>
              <a:rPr lang="en-US" sz="1500" b="1" dirty="0">
                <a:solidFill>
                  <a:srgbClr val="CBD5E1"/>
                </a:solidFill>
                <a:latin typeface="Lato Bold"/>
                <a:ea typeface="Lato Bold"/>
                <a:cs typeface="Lato Bold"/>
                <a:sym typeface="Lato Bold"/>
              </a:rPr>
              <a:t>Riwayat</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secara</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berurutan</a:t>
            </a:r>
            <a:r>
              <a:rPr lang="en-US" sz="1500" dirty="0">
                <a:solidFill>
                  <a:srgbClr val="CBD5E1"/>
                </a:solidFill>
                <a:latin typeface="Lato"/>
                <a:ea typeface="Lato"/>
                <a:cs typeface="Lato"/>
                <a:sym typeface="Lato"/>
              </a:rPr>
              <a:t>. Situs yang </a:t>
            </a:r>
            <a:r>
              <a:rPr lang="en-US" sz="1500" dirty="0" err="1">
                <a:solidFill>
                  <a:srgbClr val="CBD5E1"/>
                </a:solidFill>
                <a:latin typeface="Lato"/>
                <a:ea typeface="Lato"/>
                <a:cs typeface="Lato"/>
                <a:sym typeface="Lato"/>
              </a:rPr>
              <a:t>pertama</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dikunjungi</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akan</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tampil</a:t>
            </a:r>
            <a:r>
              <a:rPr lang="en-US" sz="1500" dirty="0">
                <a:solidFill>
                  <a:srgbClr val="CBD5E1"/>
                </a:solidFill>
                <a:latin typeface="Lato"/>
                <a:ea typeface="Lato"/>
                <a:cs typeface="Lato"/>
                <a:sym typeface="Lato"/>
              </a:rPr>
              <a:t> di </a:t>
            </a:r>
            <a:r>
              <a:rPr lang="en-US" sz="1500" dirty="0" err="1">
                <a:solidFill>
                  <a:srgbClr val="CBD5E1"/>
                </a:solidFill>
                <a:latin typeface="Lato"/>
                <a:ea typeface="Lato"/>
                <a:cs typeface="Lato"/>
                <a:sym typeface="Lato"/>
              </a:rPr>
              <a:t>urutan</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awal</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histori</a:t>
            </a:r>
            <a:r>
              <a:rPr lang="en-US" sz="1500" dirty="0">
                <a:solidFill>
                  <a:srgbClr val="CBD5E1"/>
                </a:solidFill>
                <a:latin typeface="Lato"/>
                <a:ea typeface="Lato"/>
                <a:cs typeface="Lato"/>
                <a:sym typeface="Lato"/>
              </a:rPr>
              <a:t>.</a:t>
            </a:r>
          </a:p>
        </p:txBody>
      </p:sp>
      <p:sp>
        <p:nvSpPr>
          <p:cNvPr id="31" name="TextBox 31"/>
          <p:cNvSpPr txBox="1"/>
          <p:nvPr/>
        </p:nvSpPr>
        <p:spPr>
          <a:xfrm>
            <a:off x="4665954" y="3290888"/>
            <a:ext cx="2849947" cy="1878254"/>
          </a:xfrm>
          <a:prstGeom prst="rect">
            <a:avLst/>
          </a:prstGeom>
        </p:spPr>
        <p:txBody>
          <a:bodyPr lIns="0" tIns="0" rIns="0" bIns="0" rtlCol="0" anchor="t">
            <a:spAutoFit/>
          </a:bodyPr>
          <a:lstStyle/>
          <a:p>
            <a:pPr algn="ctr">
              <a:lnSpc>
                <a:spcPts val="2940"/>
              </a:lnSpc>
            </a:pPr>
            <a:r>
              <a:rPr lang="en-US" sz="2100" b="1" dirty="0">
                <a:solidFill>
                  <a:srgbClr val="06B6D4"/>
                </a:solidFill>
                <a:latin typeface="Poppins Bold"/>
                <a:ea typeface="Poppins Bold"/>
                <a:cs typeface="Poppins Bold"/>
                <a:sym typeface="Poppins Bold"/>
              </a:rPr>
              <a:t>Array Storage</a:t>
            </a:r>
          </a:p>
          <a:p>
            <a:pPr algn="ctr">
              <a:lnSpc>
                <a:spcPts val="2879"/>
              </a:lnSpc>
            </a:pPr>
            <a:r>
              <a:rPr lang="en-US" sz="1500" dirty="0" err="1">
                <a:solidFill>
                  <a:srgbClr val="CBD5E1"/>
                </a:solidFill>
                <a:latin typeface="Lato"/>
                <a:ea typeface="Lato"/>
                <a:cs typeface="Lato"/>
                <a:sym typeface="Lato"/>
              </a:rPr>
              <a:t>Menggunakan</a:t>
            </a:r>
            <a:r>
              <a:rPr lang="en-US" sz="1500" dirty="0">
                <a:solidFill>
                  <a:srgbClr val="CBD5E1"/>
                </a:solidFill>
                <a:latin typeface="Lato"/>
                <a:ea typeface="Lato"/>
                <a:cs typeface="Lato"/>
                <a:sym typeface="Lato"/>
              </a:rPr>
              <a:t> basis </a:t>
            </a:r>
            <a:r>
              <a:rPr lang="en-US" sz="1500" b="1" dirty="0">
                <a:solidFill>
                  <a:srgbClr val="CBD5E1"/>
                </a:solidFill>
                <a:latin typeface="Lato Bold"/>
                <a:ea typeface="Lato Bold"/>
                <a:cs typeface="Lato Bold"/>
                <a:sym typeface="Lato Bold"/>
              </a:rPr>
              <a:t>Array (List)</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untuk</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manajemen</a:t>
            </a:r>
            <a:r>
              <a:rPr lang="en-US" sz="1500" dirty="0">
                <a:solidFill>
                  <a:srgbClr val="CBD5E1"/>
                </a:solidFill>
                <a:latin typeface="Lato"/>
                <a:ea typeface="Lato"/>
                <a:cs typeface="Lato"/>
                <a:sym typeface="Lato"/>
              </a:rPr>
              <a:t> data yang </a:t>
            </a:r>
            <a:r>
              <a:rPr lang="en-US" sz="1500" dirty="0" err="1">
                <a:solidFill>
                  <a:srgbClr val="CBD5E1"/>
                </a:solidFill>
                <a:latin typeface="Lato"/>
                <a:ea typeface="Lato"/>
                <a:cs typeface="Lato"/>
                <a:sym typeface="Lato"/>
              </a:rPr>
              <a:t>sederhana</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terstruktur</a:t>
            </a:r>
            <a:r>
              <a:rPr lang="en-US" sz="1500" dirty="0">
                <a:solidFill>
                  <a:srgbClr val="CBD5E1"/>
                </a:solidFill>
                <a:latin typeface="Lato"/>
                <a:ea typeface="Lato"/>
                <a:cs typeface="Lato"/>
                <a:sym typeface="Lato"/>
              </a:rPr>
              <a:t>, dan </a:t>
            </a:r>
            <a:r>
              <a:rPr lang="en-US" sz="1500" dirty="0" err="1">
                <a:solidFill>
                  <a:srgbClr val="CBD5E1"/>
                </a:solidFill>
                <a:latin typeface="Lato"/>
                <a:ea typeface="Lato"/>
                <a:cs typeface="Lato"/>
                <a:sym typeface="Lato"/>
              </a:rPr>
              <a:t>cepat</a:t>
            </a:r>
            <a:r>
              <a:rPr lang="en-US" sz="1500" dirty="0">
                <a:solidFill>
                  <a:srgbClr val="CBD5E1"/>
                </a:solidFill>
                <a:latin typeface="Lato"/>
                <a:ea typeface="Lato"/>
                <a:cs typeface="Lato"/>
                <a:sym typeface="Lato"/>
              </a:rPr>
              <a:t> </a:t>
            </a:r>
            <a:r>
              <a:rPr lang="en-US" sz="1500" dirty="0" err="1">
                <a:solidFill>
                  <a:srgbClr val="CBD5E1"/>
                </a:solidFill>
                <a:latin typeface="Lato"/>
                <a:ea typeface="Lato"/>
                <a:cs typeface="Lato"/>
                <a:sym typeface="Lato"/>
              </a:rPr>
              <a:t>diakses</a:t>
            </a:r>
            <a:r>
              <a:rPr lang="en-US" sz="1500" dirty="0">
                <a:solidFill>
                  <a:srgbClr val="CBD5E1"/>
                </a:solidFill>
                <a:latin typeface="Lato"/>
                <a:ea typeface="Lato"/>
                <a:cs typeface="Lato"/>
                <a:sym typeface="Lato"/>
              </a:rPr>
              <a:t>.</a:t>
            </a:r>
          </a:p>
        </p:txBody>
      </p:sp>
      <p:sp>
        <p:nvSpPr>
          <p:cNvPr id="32" name="TextBox 32"/>
          <p:cNvSpPr txBox="1"/>
          <p:nvPr/>
        </p:nvSpPr>
        <p:spPr>
          <a:xfrm>
            <a:off x="762000" y="577253"/>
            <a:ext cx="5906091"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SOLUSI YANG DITAWARKAN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8575"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1071562" y="1785938"/>
            <a:ext cx="4286250" cy="4286250"/>
          </a:xfrm>
          <a:custGeom>
            <a:avLst/>
            <a:gdLst/>
            <a:ahLst/>
            <a:cxnLst/>
            <a:rect l="l" t="t" r="r" b="b"/>
            <a:pathLst>
              <a:path w="4286250" h="4286250">
                <a:moveTo>
                  <a:pt x="0" y="0"/>
                </a:moveTo>
                <a:lnTo>
                  <a:pt x="4286250" y="0"/>
                </a:lnTo>
                <a:lnTo>
                  <a:pt x="4286250" y="4286250"/>
                </a:lnTo>
                <a:lnTo>
                  <a:pt x="0" y="42862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1071562" y="1785938"/>
            <a:ext cx="4286250" cy="4286250"/>
            <a:chOff x="0" y="0"/>
            <a:chExt cx="5715000" cy="5715000"/>
          </a:xfrm>
        </p:grpSpPr>
        <p:sp>
          <p:nvSpPr>
            <p:cNvPr id="7" name="Freeform 7"/>
            <p:cNvSpPr/>
            <p:nvPr/>
          </p:nvSpPr>
          <p:spPr>
            <a:xfrm>
              <a:off x="0" y="0"/>
              <a:ext cx="5715000" cy="5715000"/>
            </a:xfrm>
            <a:custGeom>
              <a:avLst/>
              <a:gdLst/>
              <a:ahLst/>
              <a:cxnLst/>
              <a:rect l="l" t="t" r="r" b="b"/>
              <a:pathLst>
                <a:path w="5715000" h="5715000">
                  <a:moveTo>
                    <a:pt x="0" y="0"/>
                  </a:moveTo>
                  <a:lnTo>
                    <a:pt x="5715000" y="0"/>
                  </a:lnTo>
                  <a:lnTo>
                    <a:pt x="5715000" y="5715000"/>
                  </a:lnTo>
                  <a:lnTo>
                    <a:pt x="0" y="5715000"/>
                  </a:lnTo>
                  <a:lnTo>
                    <a:pt x="0" y="0"/>
                  </a:lnTo>
                  <a:close/>
                </a:path>
              </a:pathLst>
            </a:custGeom>
            <a:blipFill>
              <a:blip r:embed="rId7"/>
              <a:stretch>
                <a:fillRect/>
              </a:stretch>
            </a:blipFill>
          </p:spPr>
        </p:sp>
      </p:grpSp>
      <p:sp>
        <p:nvSpPr>
          <p:cNvPr id="8" name="Freeform 8"/>
          <p:cNvSpPr/>
          <p:nvPr/>
        </p:nvSpPr>
        <p:spPr>
          <a:xfrm>
            <a:off x="1147762" y="1862138"/>
            <a:ext cx="4133850" cy="4133850"/>
          </a:xfrm>
          <a:custGeom>
            <a:avLst/>
            <a:gdLst/>
            <a:ahLst/>
            <a:cxnLst/>
            <a:rect l="l" t="t" r="r" b="b"/>
            <a:pathLst>
              <a:path w="4133850" h="4133850">
                <a:moveTo>
                  <a:pt x="0" y="0"/>
                </a:moveTo>
                <a:lnTo>
                  <a:pt x="4133850" y="0"/>
                </a:lnTo>
                <a:lnTo>
                  <a:pt x="4133850" y="4133850"/>
                </a:lnTo>
                <a:lnTo>
                  <a:pt x="0" y="41338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9" name="Group 9"/>
          <p:cNvGrpSpPr/>
          <p:nvPr/>
        </p:nvGrpSpPr>
        <p:grpSpPr>
          <a:xfrm>
            <a:off x="1147762" y="1862138"/>
            <a:ext cx="4133850" cy="4133850"/>
            <a:chOff x="0" y="0"/>
            <a:chExt cx="5511800" cy="5511800"/>
          </a:xfrm>
        </p:grpSpPr>
        <p:sp>
          <p:nvSpPr>
            <p:cNvPr id="10" name="Freeform 10"/>
            <p:cNvSpPr/>
            <p:nvPr/>
          </p:nvSpPr>
          <p:spPr>
            <a:xfrm>
              <a:off x="0" y="0"/>
              <a:ext cx="5511800" cy="5511800"/>
            </a:xfrm>
            <a:custGeom>
              <a:avLst/>
              <a:gdLst/>
              <a:ahLst/>
              <a:cxnLst/>
              <a:rect l="l" t="t" r="r" b="b"/>
              <a:pathLst>
                <a:path w="5511800" h="5511800">
                  <a:moveTo>
                    <a:pt x="0" y="0"/>
                  </a:moveTo>
                  <a:lnTo>
                    <a:pt x="5511800" y="0"/>
                  </a:lnTo>
                  <a:lnTo>
                    <a:pt x="5511800" y="5511800"/>
                  </a:lnTo>
                  <a:lnTo>
                    <a:pt x="0" y="5511800"/>
                  </a:lnTo>
                  <a:lnTo>
                    <a:pt x="0" y="0"/>
                  </a:lnTo>
                  <a:close/>
                </a:path>
              </a:pathLst>
            </a:custGeom>
            <a:blipFill>
              <a:blip r:embed="rId10"/>
              <a:stretch>
                <a:fillRect/>
              </a:stretch>
            </a:blipFill>
          </p:spPr>
        </p:sp>
      </p:grpSp>
      <p:sp>
        <p:nvSpPr>
          <p:cNvPr id="11" name="Freeform 11"/>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2" name="Freeform 12"/>
          <p:cNvSpPr/>
          <p:nvPr/>
        </p:nvSpPr>
        <p:spPr>
          <a:xfrm>
            <a:off x="762000" y="571500"/>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3" name="Freeform 13"/>
          <p:cNvSpPr/>
          <p:nvPr/>
        </p:nvSpPr>
        <p:spPr>
          <a:xfrm>
            <a:off x="6334125" y="2919412"/>
            <a:ext cx="5286375" cy="914400"/>
          </a:xfrm>
          <a:custGeom>
            <a:avLst/>
            <a:gdLst/>
            <a:ahLst/>
            <a:cxnLst/>
            <a:rect l="l" t="t" r="r" b="b"/>
            <a:pathLst>
              <a:path w="5286375" h="914400">
                <a:moveTo>
                  <a:pt x="0" y="0"/>
                </a:moveTo>
                <a:lnTo>
                  <a:pt x="5286375" y="0"/>
                </a:lnTo>
                <a:lnTo>
                  <a:pt x="5286375" y="914400"/>
                </a:lnTo>
                <a:lnTo>
                  <a:pt x="0" y="9144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4" name="Freeform 14"/>
          <p:cNvSpPr/>
          <p:nvPr/>
        </p:nvSpPr>
        <p:spPr>
          <a:xfrm>
            <a:off x="6334125" y="4024312"/>
            <a:ext cx="5286375" cy="914400"/>
          </a:xfrm>
          <a:custGeom>
            <a:avLst/>
            <a:gdLst/>
            <a:ahLst/>
            <a:cxnLst/>
            <a:rect l="l" t="t" r="r" b="b"/>
            <a:pathLst>
              <a:path w="5286375" h="914400">
                <a:moveTo>
                  <a:pt x="0" y="0"/>
                </a:moveTo>
                <a:lnTo>
                  <a:pt x="5286375" y="0"/>
                </a:lnTo>
                <a:lnTo>
                  <a:pt x="5286375" y="914400"/>
                </a:lnTo>
                <a:lnTo>
                  <a:pt x="0" y="914400"/>
                </a:lnTo>
                <a:lnTo>
                  <a:pt x="0" y="0"/>
                </a:lnTo>
                <a:close/>
              </a:path>
            </a:pathLst>
          </a:custGeom>
          <a:blipFill>
            <a:blip r:embed="rId15">
              <a:extLst>
                <a:ext uri="{96DAC541-7B7A-43D3-8B79-37D633B846F1}">
                  <asvg:svgBlip xmlns:asvg="http://schemas.microsoft.com/office/drawing/2016/SVG/main" r:embed="rId17"/>
                </a:ext>
              </a:extLst>
            </a:blip>
            <a:stretch>
              <a:fillRect/>
            </a:stretch>
          </a:blipFill>
        </p:spPr>
      </p:sp>
      <p:sp>
        <p:nvSpPr>
          <p:cNvPr id="15" name="TextBox 15"/>
          <p:cNvSpPr txBox="1"/>
          <p:nvPr/>
        </p:nvSpPr>
        <p:spPr>
          <a:xfrm>
            <a:off x="6334125" y="2803589"/>
            <a:ext cx="5382968" cy="2169795"/>
          </a:xfrm>
          <a:prstGeom prst="rect">
            <a:avLst/>
          </a:prstGeom>
        </p:spPr>
        <p:txBody>
          <a:bodyPr lIns="0" tIns="0" rIns="0" bIns="0" rtlCol="0" anchor="t">
            <a:spAutoFit/>
          </a:bodyPr>
          <a:lstStyle/>
          <a:p>
            <a:pPr algn="l">
              <a:lnSpc>
                <a:spcPts val="2899"/>
              </a:lnSpc>
            </a:pPr>
            <a:r>
              <a:rPr lang="en-US" sz="1500">
                <a:solidFill>
                  <a:srgbClr val="CBD5E1"/>
                </a:solidFill>
                <a:latin typeface="Lato"/>
                <a:ea typeface="Lato"/>
                <a:cs typeface="Lato"/>
                <a:sym typeface="Lato"/>
              </a:rPr>
              <a:t>Struktur data adalah metode untuk mengorganisasi, menyimpan, dan mengelola data dalam komputer agar dapat diakses dan diproses secara eﬁsien. Dalam proyek ini, pemilihan struktur data yang tepat (Array, Stack, dan Queue) menentukan performa navigasi halaman web secara real-time.</a:t>
            </a:r>
          </a:p>
        </p:txBody>
      </p:sp>
      <p:sp>
        <p:nvSpPr>
          <p:cNvPr id="16" name="TextBox 16"/>
          <p:cNvSpPr txBox="1"/>
          <p:nvPr/>
        </p:nvSpPr>
        <p:spPr>
          <a:xfrm>
            <a:off x="762000" y="577253"/>
            <a:ext cx="7403563"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LANDASAN TEORI: STRUKTUR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571500" y="1457325"/>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571500" y="2647950"/>
            <a:ext cx="4953000" cy="609600"/>
          </a:xfrm>
          <a:custGeom>
            <a:avLst/>
            <a:gdLst/>
            <a:ahLst/>
            <a:cxnLst/>
            <a:rect l="l" t="t" r="r" b="b"/>
            <a:pathLst>
              <a:path w="4953000" h="609600">
                <a:moveTo>
                  <a:pt x="0" y="0"/>
                </a:moveTo>
                <a:lnTo>
                  <a:pt x="4953000" y="0"/>
                </a:lnTo>
                <a:lnTo>
                  <a:pt x="4953000" y="609600"/>
                </a:lnTo>
                <a:lnTo>
                  <a:pt x="0" y="6096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571500" y="3638550"/>
            <a:ext cx="4953000" cy="609600"/>
          </a:xfrm>
          <a:custGeom>
            <a:avLst/>
            <a:gdLst/>
            <a:ahLst/>
            <a:cxnLst/>
            <a:rect l="l" t="t" r="r" b="b"/>
            <a:pathLst>
              <a:path w="4953000" h="609600">
                <a:moveTo>
                  <a:pt x="0" y="0"/>
                </a:moveTo>
                <a:lnTo>
                  <a:pt x="4953000" y="0"/>
                </a:lnTo>
                <a:lnTo>
                  <a:pt x="4953000" y="609600"/>
                </a:lnTo>
                <a:lnTo>
                  <a:pt x="0" y="609600"/>
                </a:lnTo>
                <a:lnTo>
                  <a:pt x="0" y="0"/>
                </a:lnTo>
                <a:close/>
              </a:path>
            </a:pathLst>
          </a:custGeom>
          <a:blipFill>
            <a:blip r:embed="rId7">
              <a:extLst>
                <a:ext uri="{96DAC541-7B7A-43D3-8B79-37D633B846F1}">
                  <asvg:svgBlip xmlns:asvg="http://schemas.microsoft.com/office/drawing/2016/SVG/main" r:embed="rId9"/>
                </a:ext>
              </a:extLst>
            </a:blip>
            <a:stretch>
              <a:fillRect/>
            </a:stretch>
          </a:blipFill>
        </p:spPr>
      </p:sp>
      <p:sp>
        <p:nvSpPr>
          <p:cNvPr id="8" name="Freeform 8"/>
          <p:cNvSpPr/>
          <p:nvPr/>
        </p:nvSpPr>
        <p:spPr>
          <a:xfrm>
            <a:off x="571500" y="4629150"/>
            <a:ext cx="4953000" cy="609600"/>
          </a:xfrm>
          <a:custGeom>
            <a:avLst/>
            <a:gdLst/>
            <a:ahLst/>
            <a:cxnLst/>
            <a:rect l="l" t="t" r="r" b="b"/>
            <a:pathLst>
              <a:path w="4953000" h="609600">
                <a:moveTo>
                  <a:pt x="0" y="0"/>
                </a:moveTo>
                <a:lnTo>
                  <a:pt x="4953000" y="0"/>
                </a:lnTo>
                <a:lnTo>
                  <a:pt x="4953000" y="609600"/>
                </a:lnTo>
                <a:lnTo>
                  <a:pt x="0" y="609600"/>
                </a:lnTo>
                <a:lnTo>
                  <a:pt x="0" y="0"/>
                </a:lnTo>
                <a:close/>
              </a:path>
            </a:pathLst>
          </a:custGeom>
          <a:blipFill>
            <a:blip r:embed="rId7">
              <a:extLst>
                <a:ext uri="{96DAC541-7B7A-43D3-8B79-37D633B846F1}">
                  <asvg:svgBlip xmlns:asvg="http://schemas.microsoft.com/office/drawing/2016/SVG/main" r:embed="rId10"/>
                </a:ext>
              </a:extLst>
            </a:blip>
            <a:stretch>
              <a:fillRect/>
            </a:stretch>
          </a:blipFill>
        </p:spPr>
      </p:sp>
      <p:sp>
        <p:nvSpPr>
          <p:cNvPr id="9" name="Freeform 9"/>
          <p:cNvSpPr/>
          <p:nvPr/>
        </p:nvSpPr>
        <p:spPr>
          <a:xfrm>
            <a:off x="762000" y="1457325"/>
            <a:ext cx="5000625" cy="619125"/>
          </a:xfrm>
          <a:custGeom>
            <a:avLst/>
            <a:gdLst/>
            <a:ahLst/>
            <a:cxnLst/>
            <a:rect l="l" t="t" r="r" b="b"/>
            <a:pathLst>
              <a:path w="5000625" h="619125">
                <a:moveTo>
                  <a:pt x="0" y="0"/>
                </a:moveTo>
                <a:lnTo>
                  <a:pt x="5000625" y="0"/>
                </a:lnTo>
                <a:lnTo>
                  <a:pt x="5000625" y="619125"/>
                </a:lnTo>
                <a:lnTo>
                  <a:pt x="0" y="61912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 name="Freeform 10"/>
          <p:cNvSpPr/>
          <p:nvPr/>
        </p:nvSpPr>
        <p:spPr>
          <a:xfrm>
            <a:off x="6096000" y="0"/>
            <a:ext cx="6096000" cy="6858000"/>
          </a:xfrm>
          <a:custGeom>
            <a:avLst/>
            <a:gdLst/>
            <a:ahLst/>
            <a:cxnLst/>
            <a:rect l="l" t="t" r="r" b="b"/>
            <a:pathLst>
              <a:path w="6096000" h="6858000">
                <a:moveTo>
                  <a:pt x="0" y="0"/>
                </a:moveTo>
                <a:lnTo>
                  <a:pt x="6096000" y="0"/>
                </a:lnTo>
                <a:lnTo>
                  <a:pt x="6096000" y="6858000"/>
                </a:lnTo>
                <a:lnTo>
                  <a:pt x="0" y="68580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11" name="Group 11"/>
          <p:cNvGrpSpPr/>
          <p:nvPr/>
        </p:nvGrpSpPr>
        <p:grpSpPr>
          <a:xfrm>
            <a:off x="6096000" y="0"/>
            <a:ext cx="6096000" cy="6858000"/>
            <a:chOff x="0" y="0"/>
            <a:chExt cx="8128000" cy="9144000"/>
          </a:xfrm>
        </p:grpSpPr>
        <p:sp>
          <p:nvSpPr>
            <p:cNvPr id="12" name="Freeform 12"/>
            <p:cNvSpPr/>
            <p:nvPr/>
          </p:nvSpPr>
          <p:spPr>
            <a:xfrm>
              <a:off x="0" y="0"/>
              <a:ext cx="8128000" cy="9144000"/>
            </a:xfrm>
            <a:custGeom>
              <a:avLst/>
              <a:gdLst/>
              <a:ahLst/>
              <a:cxnLst/>
              <a:rect l="l" t="t" r="r" b="b"/>
              <a:pathLst>
                <a:path w="8128000" h="9144000">
                  <a:moveTo>
                    <a:pt x="0" y="0"/>
                  </a:moveTo>
                  <a:lnTo>
                    <a:pt x="8128000" y="0"/>
                  </a:lnTo>
                  <a:lnTo>
                    <a:pt x="8128000" y="9144000"/>
                  </a:lnTo>
                  <a:lnTo>
                    <a:pt x="0" y="9144000"/>
                  </a:lnTo>
                  <a:lnTo>
                    <a:pt x="0" y="0"/>
                  </a:lnTo>
                  <a:close/>
                </a:path>
              </a:pathLst>
            </a:custGeom>
            <a:blipFill>
              <a:blip r:embed="rId15"/>
              <a:stretch>
                <a:fillRect/>
              </a:stretch>
            </a:blipFill>
          </p:spPr>
        </p:sp>
      </p:grpSp>
      <p:sp>
        <p:nvSpPr>
          <p:cNvPr id="13" name="TextBox 13"/>
          <p:cNvSpPr txBox="1"/>
          <p:nvPr/>
        </p:nvSpPr>
        <p:spPr>
          <a:xfrm>
            <a:off x="571500" y="1463078"/>
            <a:ext cx="4793628" cy="1736750"/>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KONSEP STACK: LIFO</a:t>
            </a:r>
          </a:p>
          <a:p>
            <a:pPr algn="l">
              <a:lnSpc>
                <a:spcPts val="2879"/>
              </a:lnSpc>
            </a:pPr>
            <a:r>
              <a:rPr lang="en-US" sz="1500" b="1">
                <a:solidFill>
                  <a:srgbClr val="CBD5E1"/>
                </a:solidFill>
                <a:latin typeface="Lato Bold"/>
                <a:ea typeface="Lato Bold"/>
                <a:cs typeface="Lato Bold"/>
                <a:sym typeface="Lato Bold"/>
              </a:rPr>
              <a:t>Last In, First Out</a:t>
            </a:r>
            <a:r>
              <a:rPr lang="en-US" sz="1500">
                <a:solidFill>
                  <a:srgbClr val="CBD5E1"/>
                </a:solidFill>
                <a:latin typeface="Lato"/>
                <a:ea typeface="Lato"/>
                <a:cs typeface="Lato"/>
                <a:sym typeface="Lato"/>
              </a:rPr>
              <a:t>: Data yang terakhir dimasukkan adalah yang pertama kali diambil.</a:t>
            </a:r>
          </a:p>
        </p:txBody>
      </p:sp>
      <p:sp>
        <p:nvSpPr>
          <p:cNvPr id="14" name="TextBox 14"/>
          <p:cNvSpPr txBox="1"/>
          <p:nvPr/>
        </p:nvSpPr>
        <p:spPr>
          <a:xfrm>
            <a:off x="571500" y="3522726"/>
            <a:ext cx="4804600" cy="1689735"/>
          </a:xfrm>
          <a:prstGeom prst="rect">
            <a:avLst/>
          </a:prstGeom>
        </p:spPr>
        <p:txBody>
          <a:bodyPr lIns="0" tIns="0" rIns="0" bIns="0" rtlCol="0" anchor="t">
            <a:spAutoFit/>
          </a:bodyPr>
          <a:lstStyle/>
          <a:p>
            <a:pPr algn="l">
              <a:lnSpc>
                <a:spcPts val="2879"/>
              </a:lnSpc>
            </a:pPr>
            <a:r>
              <a:rPr lang="en-US" sz="1500">
                <a:solidFill>
                  <a:srgbClr val="CBD5E1"/>
                </a:solidFill>
                <a:latin typeface="Lato"/>
                <a:ea typeface="Lato"/>
                <a:cs typeface="Lato"/>
                <a:sym typeface="Lato"/>
              </a:rPr>
              <a:t>Dalam browser, ﬁtur "Back" mengambil halaman teratas dari tumpukan (Stack) untuk dikembalikan ke layar pengguna.</a:t>
            </a:r>
          </a:p>
          <a:p>
            <a:pPr algn="l">
              <a:lnSpc>
                <a:spcPts val="1200"/>
              </a:lnSpc>
            </a:pPr>
            <a:r>
              <a:rPr lang="en-US" sz="1500">
                <a:solidFill>
                  <a:srgbClr val="CBD5E1"/>
                </a:solidFill>
                <a:latin typeface="Lato"/>
                <a:ea typeface="Lato"/>
                <a:cs typeface="Lato"/>
                <a:sym typeface="Lato"/>
              </a:rPr>
              <a:t>Operasi Utama: </a:t>
            </a:r>
            <a:r>
              <a:rPr lang="en-US" sz="1500" i="1">
                <a:solidFill>
                  <a:srgbClr val="CBD5E1"/>
                </a:solidFill>
                <a:latin typeface="Lato Italics"/>
                <a:ea typeface="Lato Italics"/>
                <a:cs typeface="Lato Italics"/>
                <a:sym typeface="Lato Italics"/>
              </a:rPr>
              <a:t>Push</a:t>
            </a:r>
            <a:r>
              <a:rPr lang="en-US" sz="1500">
                <a:solidFill>
                  <a:srgbClr val="CBD5E1"/>
                </a:solidFill>
                <a:latin typeface="Lato"/>
                <a:ea typeface="Lato"/>
                <a:cs typeface="Lato"/>
                <a:sym typeface="Lato"/>
              </a:rPr>
              <a:t> untuk menambah halaman, dan </a:t>
            </a:r>
            <a:r>
              <a:rPr lang="en-US" sz="1500" i="1">
                <a:solidFill>
                  <a:srgbClr val="CBD5E1"/>
                </a:solidFill>
                <a:latin typeface="Lato Italics"/>
                <a:ea typeface="Lato Italics"/>
                <a:cs typeface="Lato Italics"/>
                <a:sym typeface="Lato Italics"/>
              </a:rPr>
              <a:t>Pop</a:t>
            </a:r>
            <a:r>
              <a:rPr lang="en-US" sz="1500">
                <a:solidFill>
                  <a:srgbClr val="CBD5E1"/>
                </a:solidFill>
                <a:latin typeface="Lato"/>
                <a:ea typeface="Lato"/>
                <a:cs typeface="Lato"/>
                <a:sym typeface="Lato"/>
              </a:rPr>
              <a:t> </a:t>
            </a:r>
          </a:p>
          <a:p>
            <a:pPr algn="l">
              <a:lnSpc>
                <a:spcPts val="3750"/>
              </a:lnSpc>
            </a:pPr>
            <a:r>
              <a:rPr lang="en-US" sz="1500">
                <a:solidFill>
                  <a:srgbClr val="CBD5E1"/>
                </a:solidFill>
                <a:latin typeface="Lato"/>
                <a:ea typeface="Lato"/>
                <a:cs typeface="Lato"/>
                <a:sym typeface="Lato"/>
              </a:rPr>
              <a:t>untuk kembali ke halaman sebelumnya.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6334125" y="2024062"/>
            <a:ext cx="5286375" cy="3810000"/>
          </a:xfrm>
          <a:custGeom>
            <a:avLst/>
            <a:gdLst/>
            <a:ahLst/>
            <a:cxnLst/>
            <a:rect l="l" t="t" r="r" b="b"/>
            <a:pathLst>
              <a:path w="5286375" h="3810000">
                <a:moveTo>
                  <a:pt x="0" y="0"/>
                </a:moveTo>
                <a:lnTo>
                  <a:pt x="5286375" y="0"/>
                </a:lnTo>
                <a:lnTo>
                  <a:pt x="5286375" y="3810000"/>
                </a:lnTo>
                <a:lnTo>
                  <a:pt x="0" y="3810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6334125" y="2024062"/>
            <a:ext cx="5286375" cy="3810000"/>
            <a:chOff x="0" y="0"/>
            <a:chExt cx="7048500" cy="5080000"/>
          </a:xfrm>
        </p:grpSpPr>
        <p:sp>
          <p:nvSpPr>
            <p:cNvPr id="7" name="Freeform 7"/>
            <p:cNvSpPr/>
            <p:nvPr/>
          </p:nvSpPr>
          <p:spPr>
            <a:xfrm>
              <a:off x="0" y="0"/>
              <a:ext cx="7048500" cy="5080000"/>
            </a:xfrm>
            <a:custGeom>
              <a:avLst/>
              <a:gdLst/>
              <a:ahLst/>
              <a:cxnLst/>
              <a:rect l="l" t="t" r="r" b="b"/>
              <a:pathLst>
                <a:path w="7048500" h="5080000">
                  <a:moveTo>
                    <a:pt x="0" y="0"/>
                  </a:moveTo>
                  <a:lnTo>
                    <a:pt x="7048500" y="0"/>
                  </a:lnTo>
                  <a:lnTo>
                    <a:pt x="7048500" y="5080000"/>
                  </a:lnTo>
                  <a:lnTo>
                    <a:pt x="0" y="5080000"/>
                  </a:lnTo>
                  <a:lnTo>
                    <a:pt x="0" y="0"/>
                  </a:lnTo>
                  <a:close/>
                </a:path>
              </a:pathLst>
            </a:custGeom>
            <a:blipFill>
              <a:blip r:embed="rId7"/>
              <a:stretch>
                <a:fillRect/>
              </a:stretch>
            </a:blipFill>
          </p:spPr>
        </p:sp>
      </p:grpSp>
      <p:sp>
        <p:nvSpPr>
          <p:cNvPr id="8" name="Freeform 8"/>
          <p:cNvSpPr/>
          <p:nvPr/>
        </p:nvSpPr>
        <p:spPr>
          <a:xfrm>
            <a:off x="571500" y="2024062"/>
            <a:ext cx="5550694" cy="400050"/>
          </a:xfrm>
          <a:custGeom>
            <a:avLst/>
            <a:gdLst/>
            <a:ahLst/>
            <a:cxnLst/>
            <a:rect l="l" t="t" r="r" b="b"/>
            <a:pathLst>
              <a:path w="5550694" h="400050">
                <a:moveTo>
                  <a:pt x="0" y="0"/>
                </a:moveTo>
                <a:lnTo>
                  <a:pt x="5550694" y="0"/>
                </a:lnTo>
                <a:lnTo>
                  <a:pt x="5550694" y="400050"/>
                </a:lnTo>
                <a:lnTo>
                  <a:pt x="0" y="4000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571500" y="2614612"/>
            <a:ext cx="5286375" cy="609600"/>
          </a:xfrm>
          <a:custGeom>
            <a:avLst/>
            <a:gdLst/>
            <a:ahLst/>
            <a:cxnLst/>
            <a:rect l="l" t="t" r="r" b="b"/>
            <a:pathLst>
              <a:path w="5286375" h="609600">
                <a:moveTo>
                  <a:pt x="0" y="0"/>
                </a:moveTo>
                <a:lnTo>
                  <a:pt x="5286375" y="0"/>
                </a:lnTo>
                <a:lnTo>
                  <a:pt x="5286375" y="609600"/>
                </a:lnTo>
                <a:lnTo>
                  <a:pt x="0" y="6096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Freeform 10"/>
          <p:cNvSpPr/>
          <p:nvPr/>
        </p:nvSpPr>
        <p:spPr>
          <a:xfrm>
            <a:off x="571500" y="3414712"/>
            <a:ext cx="5286375" cy="914400"/>
          </a:xfrm>
          <a:custGeom>
            <a:avLst/>
            <a:gdLst/>
            <a:ahLst/>
            <a:cxnLst/>
            <a:rect l="l" t="t" r="r" b="b"/>
            <a:pathLst>
              <a:path w="5286375" h="914400">
                <a:moveTo>
                  <a:pt x="0" y="0"/>
                </a:moveTo>
                <a:lnTo>
                  <a:pt x="5286375" y="0"/>
                </a:lnTo>
                <a:lnTo>
                  <a:pt x="5286375" y="914400"/>
                </a:lnTo>
                <a:lnTo>
                  <a:pt x="0" y="9144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1" name="Freeform 11"/>
          <p:cNvSpPr/>
          <p:nvPr/>
        </p:nvSpPr>
        <p:spPr>
          <a:xfrm>
            <a:off x="6343650" y="2033588"/>
            <a:ext cx="5267325" cy="3790950"/>
          </a:xfrm>
          <a:custGeom>
            <a:avLst/>
            <a:gdLst/>
            <a:ahLst/>
            <a:cxnLst/>
            <a:rect l="l" t="t" r="r" b="b"/>
            <a:pathLst>
              <a:path w="5267325" h="3790950">
                <a:moveTo>
                  <a:pt x="0" y="0"/>
                </a:moveTo>
                <a:lnTo>
                  <a:pt x="5267325" y="0"/>
                </a:lnTo>
                <a:lnTo>
                  <a:pt x="5267325" y="3790950"/>
                </a:lnTo>
                <a:lnTo>
                  <a:pt x="0" y="379095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12" name="Group 12"/>
          <p:cNvGrpSpPr/>
          <p:nvPr/>
        </p:nvGrpSpPr>
        <p:grpSpPr>
          <a:xfrm>
            <a:off x="6343650" y="2033588"/>
            <a:ext cx="5267325" cy="3790950"/>
            <a:chOff x="0" y="0"/>
            <a:chExt cx="7023100" cy="5054600"/>
          </a:xfrm>
        </p:grpSpPr>
        <p:sp>
          <p:nvSpPr>
            <p:cNvPr id="13" name="Freeform 13"/>
            <p:cNvSpPr/>
            <p:nvPr/>
          </p:nvSpPr>
          <p:spPr>
            <a:xfrm>
              <a:off x="0" y="0"/>
              <a:ext cx="7023100" cy="5054600"/>
            </a:xfrm>
            <a:custGeom>
              <a:avLst/>
              <a:gdLst/>
              <a:ahLst/>
              <a:cxnLst/>
              <a:rect l="l" t="t" r="r" b="b"/>
              <a:pathLst>
                <a:path w="7023100" h="5054600">
                  <a:moveTo>
                    <a:pt x="0" y="0"/>
                  </a:moveTo>
                  <a:lnTo>
                    <a:pt x="7023100" y="0"/>
                  </a:lnTo>
                  <a:lnTo>
                    <a:pt x="7023100" y="5054600"/>
                  </a:lnTo>
                  <a:lnTo>
                    <a:pt x="0" y="5054600"/>
                  </a:lnTo>
                  <a:lnTo>
                    <a:pt x="0" y="0"/>
                  </a:lnTo>
                  <a:close/>
                </a:path>
              </a:pathLst>
            </a:custGeom>
            <a:blipFill>
              <a:blip r:embed="rId16"/>
              <a:stretch>
                <a:fillRect/>
              </a:stretch>
            </a:blipFill>
          </p:spPr>
        </p:sp>
      </p:grpSp>
      <p:sp>
        <p:nvSpPr>
          <p:cNvPr id="14" name="Freeform 14"/>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5" name="Freeform 15"/>
          <p:cNvSpPr/>
          <p:nvPr/>
        </p:nvSpPr>
        <p:spPr>
          <a:xfrm>
            <a:off x="762000" y="571500"/>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6" name="TextBox 16"/>
          <p:cNvSpPr txBox="1"/>
          <p:nvPr/>
        </p:nvSpPr>
        <p:spPr>
          <a:xfrm>
            <a:off x="571500" y="2031187"/>
            <a:ext cx="5282708" cy="2312594"/>
          </a:xfrm>
          <a:prstGeom prst="rect">
            <a:avLst/>
          </a:prstGeom>
        </p:spPr>
        <p:txBody>
          <a:bodyPr lIns="0" tIns="0" rIns="0" bIns="0" rtlCol="0" anchor="t">
            <a:spAutoFit/>
          </a:bodyPr>
          <a:lstStyle/>
          <a:p>
            <a:pPr algn="l">
              <a:lnSpc>
                <a:spcPts val="2940"/>
              </a:lnSpc>
            </a:pPr>
            <a:r>
              <a:rPr lang="en-US" sz="2100" b="1">
                <a:solidFill>
                  <a:srgbClr val="06B6D4"/>
                </a:solidFill>
                <a:latin typeface="Poppins Bold"/>
                <a:ea typeface="Poppins Bold"/>
                <a:cs typeface="Poppins Bold"/>
                <a:sym typeface="Poppins Bold"/>
              </a:rPr>
              <a:t>First In, First Out</a:t>
            </a:r>
          </a:p>
          <a:p>
            <a:pPr algn="l">
              <a:lnSpc>
                <a:spcPts val="2879"/>
              </a:lnSpc>
            </a:pPr>
            <a:r>
              <a:rPr lang="en-US" sz="1500">
                <a:solidFill>
                  <a:srgbClr val="CBD5E1"/>
                </a:solidFill>
                <a:latin typeface="Lato"/>
                <a:ea typeface="Lato"/>
                <a:cs typeface="Lato"/>
                <a:sym typeface="Lato"/>
              </a:rPr>
              <a:t>Queue bekerja layaknya antrean. Data pertama yang masuk akan diproses terlebih dahulu.</a:t>
            </a:r>
          </a:p>
          <a:p>
            <a:pPr algn="l">
              <a:lnSpc>
                <a:spcPts val="3750"/>
              </a:lnSpc>
            </a:pPr>
            <a:r>
              <a:rPr lang="en-US" sz="1500">
                <a:solidFill>
                  <a:srgbClr val="CBD5E1"/>
                </a:solidFill>
                <a:latin typeface="Lato"/>
                <a:ea typeface="Lato"/>
                <a:cs typeface="Lato"/>
                <a:sym typeface="Lato"/>
              </a:rPr>
              <a:t>Fitur </a:t>
            </a:r>
            <a:r>
              <a:rPr lang="en-US" sz="1500" b="1">
                <a:solidFill>
                  <a:srgbClr val="CBD5E1"/>
                </a:solidFill>
                <a:latin typeface="Lato Bold"/>
                <a:ea typeface="Lato Bold"/>
                <a:cs typeface="Lato Bold"/>
                <a:sym typeface="Lato Bold"/>
              </a:rPr>
              <a:t>History</a:t>
            </a:r>
            <a:r>
              <a:rPr lang="en-US" sz="1500">
                <a:solidFill>
                  <a:srgbClr val="CBD5E1"/>
                </a:solidFill>
                <a:latin typeface="Lato"/>
                <a:ea typeface="Lato"/>
                <a:cs typeface="Lato"/>
                <a:sym typeface="Lato"/>
              </a:rPr>
              <a:t> menggunakan Queue untuk menyimpan setiap </a:t>
            </a:r>
          </a:p>
          <a:p>
            <a:pPr algn="l">
              <a:lnSpc>
                <a:spcPts val="2010"/>
              </a:lnSpc>
            </a:pPr>
            <a:r>
              <a:rPr lang="en-US" sz="1500">
                <a:solidFill>
                  <a:srgbClr val="CBD5E1"/>
                </a:solidFill>
                <a:latin typeface="Lato"/>
                <a:ea typeface="Lato"/>
                <a:cs typeface="Lato"/>
                <a:sym typeface="Lato"/>
              </a:rPr>
              <a:t>kunjungan secara kronologis, memudahkan pengguna melacak </a:t>
            </a:r>
          </a:p>
          <a:p>
            <a:pPr algn="l">
              <a:lnSpc>
                <a:spcPts val="3750"/>
              </a:lnSpc>
            </a:pPr>
            <a:r>
              <a:rPr lang="en-US" sz="1500">
                <a:solidFill>
                  <a:srgbClr val="CBD5E1"/>
                </a:solidFill>
                <a:latin typeface="Lato"/>
                <a:ea typeface="Lato"/>
                <a:cs typeface="Lato"/>
                <a:sym typeface="Lato"/>
              </a:rPr>
              <a:t>aktivitas penelusuran dari awal hingga akhir.</a:t>
            </a:r>
          </a:p>
        </p:txBody>
      </p:sp>
      <p:sp>
        <p:nvSpPr>
          <p:cNvPr id="17" name="TextBox 17"/>
          <p:cNvSpPr txBox="1"/>
          <p:nvPr/>
        </p:nvSpPr>
        <p:spPr>
          <a:xfrm>
            <a:off x="762000" y="577253"/>
            <a:ext cx="4350915"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KONSEP QUEUE: FIFO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762000" y="571500"/>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507997" y="2493959"/>
            <a:ext cx="11175997" cy="3060754"/>
          </a:xfrm>
          <a:custGeom>
            <a:avLst/>
            <a:gdLst/>
            <a:ahLst/>
            <a:cxnLst/>
            <a:rect l="l" t="t" r="r" b="b"/>
            <a:pathLst>
              <a:path w="11175997" h="3060754">
                <a:moveTo>
                  <a:pt x="0" y="0"/>
                </a:moveTo>
                <a:lnTo>
                  <a:pt x="11175997" y="0"/>
                </a:lnTo>
                <a:lnTo>
                  <a:pt x="11175997" y="3060754"/>
                </a:lnTo>
                <a:lnTo>
                  <a:pt x="0" y="30607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628650" y="2674429"/>
            <a:ext cx="469163" cy="289560"/>
          </a:xfrm>
          <a:prstGeom prst="rect">
            <a:avLst/>
          </a:prstGeom>
        </p:spPr>
        <p:txBody>
          <a:bodyPr lIns="0" tIns="0" rIns="0" bIns="0" rtlCol="0" anchor="t">
            <a:spAutoFit/>
          </a:bodyPr>
          <a:lstStyle/>
          <a:p>
            <a:pPr algn="l">
              <a:lnSpc>
                <a:spcPts val="2310"/>
              </a:lnSpc>
            </a:pPr>
            <a:r>
              <a:rPr lang="en-US" sz="1650" b="1">
                <a:solidFill>
                  <a:srgbClr val="06B6D4"/>
                </a:solidFill>
                <a:latin typeface="Lato Bold"/>
                <a:ea typeface="Lato Bold"/>
                <a:cs typeface="Lato Bold"/>
                <a:sym typeface="Lato Bold"/>
              </a:rPr>
              <a:t>Fitur</a:t>
            </a:r>
          </a:p>
        </p:txBody>
      </p:sp>
      <p:sp>
        <p:nvSpPr>
          <p:cNvPr id="9" name="TextBox 9"/>
          <p:cNvSpPr txBox="1"/>
          <p:nvPr/>
        </p:nvSpPr>
        <p:spPr>
          <a:xfrm>
            <a:off x="2932205" y="2674429"/>
            <a:ext cx="1887760" cy="289560"/>
          </a:xfrm>
          <a:prstGeom prst="rect">
            <a:avLst/>
          </a:prstGeom>
        </p:spPr>
        <p:txBody>
          <a:bodyPr lIns="0" tIns="0" rIns="0" bIns="0" rtlCol="0" anchor="t">
            <a:spAutoFit/>
          </a:bodyPr>
          <a:lstStyle/>
          <a:p>
            <a:pPr algn="l">
              <a:lnSpc>
                <a:spcPts val="2310"/>
              </a:lnSpc>
            </a:pPr>
            <a:r>
              <a:rPr lang="en-US" sz="1650" b="1">
                <a:solidFill>
                  <a:srgbClr val="06B6D4"/>
                </a:solidFill>
                <a:latin typeface="Lato Bold"/>
                <a:ea typeface="Lato Bold"/>
                <a:cs typeface="Lato Bold"/>
                <a:sym typeface="Lato Bold"/>
              </a:rPr>
              <a:t>Implementasi Array</a:t>
            </a:r>
          </a:p>
        </p:txBody>
      </p:sp>
      <p:sp>
        <p:nvSpPr>
          <p:cNvPr id="10" name="TextBox 10"/>
          <p:cNvSpPr txBox="1"/>
          <p:nvPr/>
        </p:nvSpPr>
        <p:spPr>
          <a:xfrm>
            <a:off x="7226627" y="2674429"/>
            <a:ext cx="2365467" cy="289560"/>
          </a:xfrm>
          <a:prstGeom prst="rect">
            <a:avLst/>
          </a:prstGeom>
        </p:spPr>
        <p:txBody>
          <a:bodyPr lIns="0" tIns="0" rIns="0" bIns="0" rtlCol="0" anchor="t">
            <a:spAutoFit/>
          </a:bodyPr>
          <a:lstStyle/>
          <a:p>
            <a:pPr algn="l">
              <a:lnSpc>
                <a:spcPts val="2310"/>
              </a:lnSpc>
            </a:pPr>
            <a:r>
              <a:rPr lang="en-US" sz="1650" b="1">
                <a:solidFill>
                  <a:srgbClr val="06B6D4"/>
                </a:solidFill>
                <a:latin typeface="Lato Bold"/>
                <a:ea typeface="Lato Bold"/>
                <a:cs typeface="Lato Bold"/>
                <a:sym typeface="Lato Bold"/>
              </a:rPr>
              <a:t>Implementasi Linked List</a:t>
            </a:r>
          </a:p>
        </p:txBody>
      </p:sp>
      <p:sp>
        <p:nvSpPr>
          <p:cNvPr id="11" name="TextBox 11"/>
          <p:cNvSpPr txBox="1"/>
          <p:nvPr/>
        </p:nvSpPr>
        <p:spPr>
          <a:xfrm>
            <a:off x="628650" y="3308728"/>
            <a:ext cx="766201"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Akses Data</a:t>
            </a:r>
          </a:p>
        </p:txBody>
      </p:sp>
      <p:sp>
        <p:nvSpPr>
          <p:cNvPr id="12" name="TextBox 12"/>
          <p:cNvSpPr txBox="1"/>
          <p:nvPr/>
        </p:nvSpPr>
        <p:spPr>
          <a:xfrm>
            <a:off x="628650" y="3895487"/>
            <a:ext cx="808482"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Fleksibilitas</a:t>
            </a:r>
          </a:p>
        </p:txBody>
      </p:sp>
      <p:sp>
        <p:nvSpPr>
          <p:cNvPr id="13" name="TextBox 13"/>
          <p:cNvSpPr txBox="1"/>
          <p:nvPr/>
        </p:nvSpPr>
        <p:spPr>
          <a:xfrm>
            <a:off x="628650" y="4482236"/>
            <a:ext cx="921496"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Penyimpanan</a:t>
            </a:r>
          </a:p>
        </p:txBody>
      </p:sp>
      <p:sp>
        <p:nvSpPr>
          <p:cNvPr id="14" name="TextBox 14"/>
          <p:cNvSpPr txBox="1"/>
          <p:nvPr/>
        </p:nvSpPr>
        <p:spPr>
          <a:xfrm>
            <a:off x="628650" y="5068986"/>
            <a:ext cx="1197102"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Kelebihan Proyek</a:t>
            </a:r>
          </a:p>
        </p:txBody>
      </p:sp>
      <p:sp>
        <p:nvSpPr>
          <p:cNvPr id="15" name="TextBox 15"/>
          <p:cNvSpPr txBox="1"/>
          <p:nvPr/>
        </p:nvSpPr>
        <p:spPr>
          <a:xfrm>
            <a:off x="2932205" y="4482236"/>
            <a:ext cx="1583550"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Blok memori berurutan</a:t>
            </a:r>
          </a:p>
        </p:txBody>
      </p:sp>
      <p:sp>
        <p:nvSpPr>
          <p:cNvPr id="16" name="TextBox 16"/>
          <p:cNvSpPr txBox="1"/>
          <p:nvPr/>
        </p:nvSpPr>
        <p:spPr>
          <a:xfrm>
            <a:off x="2932205" y="3308728"/>
            <a:ext cx="1867710"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Sangat cepat melalui indeks</a:t>
            </a:r>
          </a:p>
        </p:txBody>
      </p:sp>
      <p:sp>
        <p:nvSpPr>
          <p:cNvPr id="17" name="TextBox 17"/>
          <p:cNvSpPr txBox="1"/>
          <p:nvPr/>
        </p:nvSpPr>
        <p:spPr>
          <a:xfrm>
            <a:off x="2932205" y="3895487"/>
            <a:ext cx="2536441"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Ukuran statis (pada beberapa bahasa)</a:t>
            </a:r>
          </a:p>
        </p:txBody>
      </p:sp>
      <p:sp>
        <p:nvSpPr>
          <p:cNvPr id="18" name="TextBox 18"/>
          <p:cNvSpPr txBox="1"/>
          <p:nvPr/>
        </p:nvSpPr>
        <p:spPr>
          <a:xfrm>
            <a:off x="2932205" y="5068986"/>
            <a:ext cx="2574369"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Sederhana &amp; Eﬁsien untuk Python List</a:t>
            </a:r>
          </a:p>
        </p:txBody>
      </p:sp>
      <p:sp>
        <p:nvSpPr>
          <p:cNvPr id="19" name="TextBox 19"/>
          <p:cNvSpPr txBox="1"/>
          <p:nvPr/>
        </p:nvSpPr>
        <p:spPr>
          <a:xfrm>
            <a:off x="7226627" y="3895487"/>
            <a:ext cx="1945900"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Ukuran dinamis dan ﬂeksibel</a:t>
            </a:r>
          </a:p>
        </p:txBody>
      </p:sp>
      <p:sp>
        <p:nvSpPr>
          <p:cNvPr id="20" name="TextBox 20"/>
          <p:cNvSpPr txBox="1"/>
          <p:nvPr/>
        </p:nvSpPr>
        <p:spPr>
          <a:xfrm>
            <a:off x="7226627" y="4482236"/>
            <a:ext cx="2041655"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Node tersebar dengan pointer</a:t>
            </a:r>
          </a:p>
        </p:txBody>
      </p:sp>
      <p:sp>
        <p:nvSpPr>
          <p:cNvPr id="21" name="TextBox 21"/>
          <p:cNvSpPr txBox="1"/>
          <p:nvPr/>
        </p:nvSpPr>
        <p:spPr>
          <a:xfrm>
            <a:off x="7226627" y="5068986"/>
            <a:ext cx="2158708"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Cocok untuk data dinamis besar</a:t>
            </a:r>
          </a:p>
        </p:txBody>
      </p:sp>
      <p:sp>
        <p:nvSpPr>
          <p:cNvPr id="22" name="TextBox 22"/>
          <p:cNvSpPr txBox="1"/>
          <p:nvPr/>
        </p:nvSpPr>
        <p:spPr>
          <a:xfrm>
            <a:off x="7226627" y="3308728"/>
            <a:ext cx="2690489" cy="211455"/>
          </a:xfrm>
          <a:prstGeom prst="rect">
            <a:avLst/>
          </a:prstGeom>
        </p:spPr>
        <p:txBody>
          <a:bodyPr lIns="0" tIns="0" rIns="0" bIns="0" rtlCol="0" anchor="t">
            <a:spAutoFit/>
          </a:bodyPr>
          <a:lstStyle/>
          <a:p>
            <a:pPr algn="l">
              <a:lnSpc>
                <a:spcPts val="1679"/>
              </a:lnSpc>
            </a:pPr>
            <a:r>
              <a:rPr lang="en-US" sz="1200">
                <a:solidFill>
                  <a:srgbClr val="F8FAFC"/>
                </a:solidFill>
                <a:latin typeface="Lato"/>
                <a:ea typeface="Lato"/>
                <a:cs typeface="Lato"/>
                <a:sym typeface="Lato"/>
              </a:rPr>
              <a:t>Harus menelusuri dari awal (Sequential)</a:t>
            </a:r>
          </a:p>
        </p:txBody>
      </p:sp>
      <p:sp>
        <p:nvSpPr>
          <p:cNvPr id="23" name="TextBox 23"/>
          <p:cNvSpPr txBox="1"/>
          <p:nvPr/>
        </p:nvSpPr>
        <p:spPr>
          <a:xfrm>
            <a:off x="762000" y="577253"/>
            <a:ext cx="4658268"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ARRAY VS LINKED LIST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231772" y="507997"/>
            <a:ext cx="11728447" cy="2264321"/>
          </a:xfrm>
          <a:custGeom>
            <a:avLst/>
            <a:gdLst/>
            <a:ahLst/>
            <a:cxnLst/>
            <a:rect l="l" t="t" r="r" b="b"/>
            <a:pathLst>
              <a:path w="11728447" h="2264321">
                <a:moveTo>
                  <a:pt x="0" y="0"/>
                </a:moveTo>
                <a:lnTo>
                  <a:pt x="11728447" y="0"/>
                </a:lnTo>
                <a:lnTo>
                  <a:pt x="11728447" y="2264321"/>
                </a:lnTo>
                <a:lnTo>
                  <a:pt x="0" y="22643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879892" y="585407"/>
            <a:ext cx="8653367" cy="1105052"/>
          </a:xfrm>
          <a:prstGeom prst="rect">
            <a:avLst/>
          </a:prstGeom>
        </p:spPr>
        <p:txBody>
          <a:bodyPr lIns="0" tIns="0" rIns="0" bIns="0" rtlCol="0" anchor="t">
            <a:spAutoFit/>
          </a:bodyPr>
          <a:lstStyle/>
          <a:p>
            <a:pPr algn="ctr">
              <a:lnSpc>
                <a:spcPts val="6299"/>
              </a:lnSpc>
            </a:pPr>
            <a:r>
              <a:rPr lang="en-US" sz="4500" b="1">
                <a:solidFill>
                  <a:srgbClr val="06B6D4"/>
                </a:solidFill>
                <a:latin typeface="Poppins Bold"/>
                <a:ea typeface="Poppins Bold"/>
                <a:cs typeface="Poppins Bold"/>
                <a:sym typeface="Poppins Bold"/>
              </a:rPr>
              <a:t>Implementasi Python</a:t>
            </a:r>
          </a:p>
          <a:p>
            <a:pPr algn="ctr">
              <a:lnSpc>
                <a:spcPts val="4029"/>
              </a:lnSpc>
            </a:pPr>
            <a:r>
              <a:rPr lang="en-US" sz="2100">
                <a:solidFill>
                  <a:srgbClr val="CBD5E1"/>
                </a:solidFill>
                <a:latin typeface="Lato"/>
                <a:ea typeface="Lato"/>
                <a:cs typeface="Lato"/>
                <a:sym typeface="Lato"/>
              </a:rPr>
              <a:t>Dalambahasa Python,Arraydirepresentasikanmelaluitipedata</a:t>
            </a:r>
            <a:r>
              <a:rPr lang="en-US" sz="2100" b="1">
                <a:solidFill>
                  <a:srgbClr val="CBD5E1"/>
                </a:solidFill>
                <a:latin typeface="Lato Bold"/>
                <a:ea typeface="Lato Bold"/>
                <a:cs typeface="Lato Bold"/>
                <a:sym typeface="Lato Bold"/>
              </a:rPr>
              <a:t>List</a:t>
            </a:r>
            <a:r>
              <a:rPr lang="en-US" sz="2100">
                <a:solidFill>
                  <a:srgbClr val="CBD5E1"/>
                </a:solidFill>
                <a:latin typeface="Lato"/>
                <a:ea typeface="Lato"/>
                <a:cs typeface="Lato"/>
                <a:sym typeface="Lato"/>
              </a:rPr>
              <a:t>. List </a:t>
            </a:r>
          </a:p>
        </p:txBody>
      </p:sp>
      <p:sp>
        <p:nvSpPr>
          <p:cNvPr id="7" name="TextBox 7"/>
          <p:cNvSpPr txBox="1"/>
          <p:nvPr/>
        </p:nvSpPr>
        <p:spPr>
          <a:xfrm>
            <a:off x="2638387" y="1365656"/>
            <a:ext cx="52502" cy="367665"/>
          </a:xfrm>
          <a:prstGeom prst="rect">
            <a:avLst/>
          </a:prstGeom>
        </p:spPr>
        <p:txBody>
          <a:bodyPr lIns="0" tIns="0" rIns="0" bIns="0" rtlCol="0" anchor="t">
            <a:spAutoFit/>
          </a:bodyPr>
          <a:lstStyle/>
          <a:p>
            <a:pPr algn="l">
              <a:lnSpc>
                <a:spcPts val="2940"/>
              </a:lnSpc>
            </a:pPr>
            <a:r>
              <a:rPr lang="en-US" sz="2100">
                <a:solidFill>
                  <a:srgbClr val="CBD5E1"/>
                </a:solidFill>
                <a:latin typeface="Lato"/>
                <a:ea typeface="Lato"/>
                <a:cs typeface="Lato"/>
                <a:sym typeface="Lato"/>
              </a:rPr>
              <a:t> </a:t>
            </a:r>
          </a:p>
        </p:txBody>
      </p:sp>
      <p:sp>
        <p:nvSpPr>
          <p:cNvPr id="8" name="TextBox 8"/>
          <p:cNvSpPr txBox="1"/>
          <p:nvPr/>
        </p:nvSpPr>
        <p:spPr>
          <a:xfrm>
            <a:off x="2151659" y="1772793"/>
            <a:ext cx="8098993" cy="984352"/>
          </a:xfrm>
          <a:prstGeom prst="rect">
            <a:avLst/>
          </a:prstGeom>
        </p:spPr>
        <p:txBody>
          <a:bodyPr lIns="0" tIns="0" rIns="0" bIns="0" rtlCol="0" anchor="t">
            <a:spAutoFit/>
          </a:bodyPr>
          <a:lstStyle/>
          <a:p>
            <a:pPr algn="ctr">
              <a:lnSpc>
                <a:spcPts val="4029"/>
              </a:lnSpc>
            </a:pPr>
            <a:r>
              <a:rPr lang="en-US" sz="2100">
                <a:solidFill>
                  <a:srgbClr val="CBD5E1"/>
                </a:solidFill>
                <a:latin typeface="Lato"/>
                <a:ea typeface="Lato"/>
                <a:cs typeface="Lato"/>
                <a:sym typeface="Lato"/>
              </a:rPr>
              <a:t>ini menjadi fondasi bagi struktur Stack dan Queue yang kita gunakan untuk mengelola navigasi halaman.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571500" y="3266180"/>
            <a:ext cx="1988791" cy="1325613"/>
          </a:xfrm>
          <a:custGeom>
            <a:avLst/>
            <a:gdLst/>
            <a:ahLst/>
            <a:cxnLst/>
            <a:rect l="l" t="t" r="r" b="b"/>
            <a:pathLst>
              <a:path w="1988791" h="1325613">
                <a:moveTo>
                  <a:pt x="0" y="0"/>
                </a:moveTo>
                <a:lnTo>
                  <a:pt x="1988791" y="0"/>
                </a:lnTo>
                <a:lnTo>
                  <a:pt x="1988791" y="1325613"/>
                </a:lnTo>
                <a:lnTo>
                  <a:pt x="0" y="13256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571500" y="3266180"/>
            <a:ext cx="1988791" cy="1325613"/>
            <a:chOff x="0" y="0"/>
            <a:chExt cx="2651722" cy="1767484"/>
          </a:xfrm>
        </p:grpSpPr>
        <p:sp>
          <p:nvSpPr>
            <p:cNvPr id="7" name="Freeform 7"/>
            <p:cNvSpPr/>
            <p:nvPr/>
          </p:nvSpPr>
          <p:spPr>
            <a:xfrm>
              <a:off x="0" y="0"/>
              <a:ext cx="2651760" cy="1767459"/>
            </a:xfrm>
            <a:custGeom>
              <a:avLst/>
              <a:gdLst/>
              <a:ahLst/>
              <a:cxnLst/>
              <a:rect l="l" t="t" r="r" b="b"/>
              <a:pathLst>
                <a:path w="2651760" h="1767459">
                  <a:moveTo>
                    <a:pt x="0" y="0"/>
                  </a:moveTo>
                  <a:lnTo>
                    <a:pt x="2651760" y="0"/>
                  </a:lnTo>
                  <a:lnTo>
                    <a:pt x="2651760" y="1767459"/>
                  </a:lnTo>
                  <a:lnTo>
                    <a:pt x="0" y="1767459"/>
                  </a:lnTo>
                  <a:lnTo>
                    <a:pt x="0" y="0"/>
                  </a:lnTo>
                  <a:close/>
                </a:path>
              </a:pathLst>
            </a:custGeom>
            <a:blipFill>
              <a:blip r:embed="rId7"/>
              <a:stretch>
                <a:fillRect r="1" b="-1"/>
              </a:stretch>
            </a:blipFill>
          </p:spPr>
        </p:sp>
      </p:grpSp>
      <p:sp>
        <p:nvSpPr>
          <p:cNvPr id="8" name="Freeform 8"/>
          <p:cNvSpPr/>
          <p:nvPr/>
        </p:nvSpPr>
        <p:spPr>
          <a:xfrm>
            <a:off x="2836516" y="3266180"/>
            <a:ext cx="1988791" cy="1325613"/>
          </a:xfrm>
          <a:custGeom>
            <a:avLst/>
            <a:gdLst/>
            <a:ahLst/>
            <a:cxnLst/>
            <a:rect l="l" t="t" r="r" b="b"/>
            <a:pathLst>
              <a:path w="1988791" h="1325613">
                <a:moveTo>
                  <a:pt x="0" y="0"/>
                </a:moveTo>
                <a:lnTo>
                  <a:pt x="1988792" y="0"/>
                </a:lnTo>
                <a:lnTo>
                  <a:pt x="1988792" y="1325613"/>
                </a:lnTo>
                <a:lnTo>
                  <a:pt x="0" y="1325613"/>
                </a:lnTo>
                <a:lnTo>
                  <a:pt x="0" y="0"/>
                </a:lnTo>
                <a:close/>
              </a:path>
            </a:pathLst>
          </a:custGeom>
          <a:blipFill>
            <a:blip r:embed="rId5">
              <a:extLst>
                <a:ext uri="{96DAC541-7B7A-43D3-8B79-37D633B846F1}">
                  <asvg:svgBlip xmlns:asvg="http://schemas.microsoft.com/office/drawing/2016/SVG/main" r:embed="rId8"/>
                </a:ext>
              </a:extLst>
            </a:blip>
            <a:stretch>
              <a:fillRect/>
            </a:stretch>
          </a:blipFill>
        </p:spPr>
      </p:sp>
      <p:sp>
        <p:nvSpPr>
          <p:cNvPr id="9" name="Freeform 9"/>
          <p:cNvSpPr/>
          <p:nvPr/>
        </p:nvSpPr>
        <p:spPr>
          <a:xfrm>
            <a:off x="5101533" y="3266180"/>
            <a:ext cx="1988791" cy="1325613"/>
          </a:xfrm>
          <a:custGeom>
            <a:avLst/>
            <a:gdLst/>
            <a:ahLst/>
            <a:cxnLst/>
            <a:rect l="l" t="t" r="r" b="b"/>
            <a:pathLst>
              <a:path w="1988791" h="1325613">
                <a:moveTo>
                  <a:pt x="0" y="0"/>
                </a:moveTo>
                <a:lnTo>
                  <a:pt x="1988791" y="0"/>
                </a:lnTo>
                <a:lnTo>
                  <a:pt x="1988791" y="1325613"/>
                </a:lnTo>
                <a:lnTo>
                  <a:pt x="0" y="1325613"/>
                </a:lnTo>
                <a:lnTo>
                  <a:pt x="0" y="0"/>
                </a:lnTo>
                <a:close/>
              </a:path>
            </a:pathLst>
          </a:custGeom>
          <a:blipFill>
            <a:blip r:embed="rId5">
              <a:extLst>
                <a:ext uri="{96DAC541-7B7A-43D3-8B79-37D633B846F1}">
                  <asvg:svgBlip xmlns:asvg="http://schemas.microsoft.com/office/drawing/2016/SVG/main" r:embed="rId9"/>
                </a:ext>
              </a:extLst>
            </a:blip>
            <a:stretch>
              <a:fillRect/>
            </a:stretch>
          </a:blipFill>
        </p:spPr>
      </p:sp>
      <p:sp>
        <p:nvSpPr>
          <p:cNvPr id="10" name="Freeform 10"/>
          <p:cNvSpPr/>
          <p:nvPr/>
        </p:nvSpPr>
        <p:spPr>
          <a:xfrm>
            <a:off x="7366549" y="3266180"/>
            <a:ext cx="1988791" cy="1325613"/>
          </a:xfrm>
          <a:custGeom>
            <a:avLst/>
            <a:gdLst/>
            <a:ahLst/>
            <a:cxnLst/>
            <a:rect l="l" t="t" r="r" b="b"/>
            <a:pathLst>
              <a:path w="1988791" h="1325613">
                <a:moveTo>
                  <a:pt x="0" y="0"/>
                </a:moveTo>
                <a:lnTo>
                  <a:pt x="1988792" y="0"/>
                </a:lnTo>
                <a:lnTo>
                  <a:pt x="1988792" y="1325613"/>
                </a:lnTo>
                <a:lnTo>
                  <a:pt x="0" y="1325613"/>
                </a:lnTo>
                <a:lnTo>
                  <a:pt x="0" y="0"/>
                </a:lnTo>
                <a:close/>
              </a:path>
            </a:pathLst>
          </a:custGeom>
          <a:blipFill>
            <a:blip r:embed="rId5">
              <a:extLst>
                <a:ext uri="{96DAC541-7B7A-43D3-8B79-37D633B846F1}">
                  <asvg:svgBlip xmlns:asvg="http://schemas.microsoft.com/office/drawing/2016/SVG/main" r:embed="rId10"/>
                </a:ext>
              </a:extLst>
            </a:blip>
            <a:stretch>
              <a:fillRect/>
            </a:stretch>
          </a:blipFill>
        </p:spPr>
      </p:sp>
      <p:sp>
        <p:nvSpPr>
          <p:cNvPr id="11" name="Freeform 11"/>
          <p:cNvSpPr/>
          <p:nvPr/>
        </p:nvSpPr>
        <p:spPr>
          <a:xfrm>
            <a:off x="9631556" y="3266180"/>
            <a:ext cx="1988791" cy="1325613"/>
          </a:xfrm>
          <a:custGeom>
            <a:avLst/>
            <a:gdLst/>
            <a:ahLst/>
            <a:cxnLst/>
            <a:rect l="l" t="t" r="r" b="b"/>
            <a:pathLst>
              <a:path w="1988791" h="1325613">
                <a:moveTo>
                  <a:pt x="0" y="0"/>
                </a:moveTo>
                <a:lnTo>
                  <a:pt x="1988792" y="0"/>
                </a:lnTo>
                <a:lnTo>
                  <a:pt x="1988792" y="1325613"/>
                </a:lnTo>
                <a:lnTo>
                  <a:pt x="0" y="1325613"/>
                </a:lnTo>
                <a:lnTo>
                  <a:pt x="0" y="0"/>
                </a:lnTo>
                <a:close/>
              </a:path>
            </a:pathLst>
          </a:custGeom>
          <a:blipFill>
            <a:blip r:embed="rId5">
              <a:extLst>
                <a:ext uri="{96DAC541-7B7A-43D3-8B79-37D633B846F1}">
                  <asvg:svgBlip xmlns:asvg="http://schemas.microsoft.com/office/drawing/2016/SVG/main" r:embed="rId11"/>
                </a:ext>
              </a:extLst>
            </a:blip>
            <a:stretch>
              <a:fillRect/>
            </a:stretch>
          </a:blipFill>
        </p:spPr>
      </p:sp>
      <p:grpSp>
        <p:nvGrpSpPr>
          <p:cNvPr id="12" name="Group 12"/>
          <p:cNvGrpSpPr/>
          <p:nvPr/>
        </p:nvGrpSpPr>
        <p:grpSpPr>
          <a:xfrm>
            <a:off x="2836516" y="3266180"/>
            <a:ext cx="1988791" cy="1325613"/>
            <a:chOff x="0" y="0"/>
            <a:chExt cx="2651722" cy="1767484"/>
          </a:xfrm>
        </p:grpSpPr>
        <p:sp>
          <p:nvSpPr>
            <p:cNvPr id="13" name="Freeform 13"/>
            <p:cNvSpPr/>
            <p:nvPr/>
          </p:nvSpPr>
          <p:spPr>
            <a:xfrm>
              <a:off x="0" y="0"/>
              <a:ext cx="2651760" cy="1767459"/>
            </a:xfrm>
            <a:custGeom>
              <a:avLst/>
              <a:gdLst/>
              <a:ahLst/>
              <a:cxnLst/>
              <a:rect l="l" t="t" r="r" b="b"/>
              <a:pathLst>
                <a:path w="2651760" h="1767459">
                  <a:moveTo>
                    <a:pt x="0" y="0"/>
                  </a:moveTo>
                  <a:lnTo>
                    <a:pt x="2651760" y="0"/>
                  </a:lnTo>
                  <a:lnTo>
                    <a:pt x="2651760" y="1767459"/>
                  </a:lnTo>
                  <a:lnTo>
                    <a:pt x="0" y="1767459"/>
                  </a:lnTo>
                  <a:lnTo>
                    <a:pt x="0" y="0"/>
                  </a:lnTo>
                  <a:close/>
                </a:path>
              </a:pathLst>
            </a:custGeom>
            <a:blipFill>
              <a:blip r:embed="rId12"/>
              <a:stretch>
                <a:fillRect r="1" b="-1"/>
              </a:stretch>
            </a:blipFill>
          </p:spPr>
        </p:sp>
      </p:grpSp>
      <p:grpSp>
        <p:nvGrpSpPr>
          <p:cNvPr id="14" name="Group 14"/>
          <p:cNvGrpSpPr/>
          <p:nvPr/>
        </p:nvGrpSpPr>
        <p:grpSpPr>
          <a:xfrm>
            <a:off x="5101533" y="3266180"/>
            <a:ext cx="1988791" cy="1325613"/>
            <a:chOff x="0" y="0"/>
            <a:chExt cx="2651722" cy="1767484"/>
          </a:xfrm>
        </p:grpSpPr>
        <p:sp>
          <p:nvSpPr>
            <p:cNvPr id="15" name="Freeform 15"/>
            <p:cNvSpPr/>
            <p:nvPr/>
          </p:nvSpPr>
          <p:spPr>
            <a:xfrm>
              <a:off x="0" y="0"/>
              <a:ext cx="2651760" cy="1767459"/>
            </a:xfrm>
            <a:custGeom>
              <a:avLst/>
              <a:gdLst/>
              <a:ahLst/>
              <a:cxnLst/>
              <a:rect l="l" t="t" r="r" b="b"/>
              <a:pathLst>
                <a:path w="2651760" h="1767459">
                  <a:moveTo>
                    <a:pt x="0" y="0"/>
                  </a:moveTo>
                  <a:lnTo>
                    <a:pt x="2651760" y="0"/>
                  </a:lnTo>
                  <a:lnTo>
                    <a:pt x="2651760" y="1767459"/>
                  </a:lnTo>
                  <a:lnTo>
                    <a:pt x="0" y="1767459"/>
                  </a:lnTo>
                  <a:lnTo>
                    <a:pt x="0" y="0"/>
                  </a:lnTo>
                  <a:close/>
                </a:path>
              </a:pathLst>
            </a:custGeom>
            <a:blipFill>
              <a:blip r:embed="rId13"/>
              <a:stretch>
                <a:fillRect r="1" b="-1"/>
              </a:stretch>
            </a:blipFill>
          </p:spPr>
        </p:sp>
      </p:grpSp>
      <p:grpSp>
        <p:nvGrpSpPr>
          <p:cNvPr id="16" name="Group 16"/>
          <p:cNvGrpSpPr/>
          <p:nvPr/>
        </p:nvGrpSpPr>
        <p:grpSpPr>
          <a:xfrm>
            <a:off x="7366549" y="3266180"/>
            <a:ext cx="1988791" cy="1325613"/>
            <a:chOff x="0" y="0"/>
            <a:chExt cx="2651722" cy="1767484"/>
          </a:xfrm>
        </p:grpSpPr>
        <p:sp>
          <p:nvSpPr>
            <p:cNvPr id="17" name="Freeform 17"/>
            <p:cNvSpPr/>
            <p:nvPr/>
          </p:nvSpPr>
          <p:spPr>
            <a:xfrm>
              <a:off x="0" y="0"/>
              <a:ext cx="2651760" cy="1767459"/>
            </a:xfrm>
            <a:custGeom>
              <a:avLst/>
              <a:gdLst/>
              <a:ahLst/>
              <a:cxnLst/>
              <a:rect l="l" t="t" r="r" b="b"/>
              <a:pathLst>
                <a:path w="2651760" h="1767459">
                  <a:moveTo>
                    <a:pt x="0" y="0"/>
                  </a:moveTo>
                  <a:lnTo>
                    <a:pt x="2651760" y="0"/>
                  </a:lnTo>
                  <a:lnTo>
                    <a:pt x="2651760" y="1767459"/>
                  </a:lnTo>
                  <a:lnTo>
                    <a:pt x="0" y="1767459"/>
                  </a:lnTo>
                  <a:lnTo>
                    <a:pt x="0" y="0"/>
                  </a:lnTo>
                  <a:close/>
                </a:path>
              </a:pathLst>
            </a:custGeom>
            <a:blipFill>
              <a:blip r:embed="rId14"/>
              <a:stretch>
                <a:fillRect r="1" b="-1"/>
              </a:stretch>
            </a:blipFill>
          </p:spPr>
        </p:sp>
      </p:grpSp>
      <p:grpSp>
        <p:nvGrpSpPr>
          <p:cNvPr id="18" name="Group 18"/>
          <p:cNvGrpSpPr/>
          <p:nvPr/>
        </p:nvGrpSpPr>
        <p:grpSpPr>
          <a:xfrm>
            <a:off x="9631556" y="3266180"/>
            <a:ext cx="1988791" cy="1325613"/>
            <a:chOff x="0" y="0"/>
            <a:chExt cx="2651722" cy="1767484"/>
          </a:xfrm>
        </p:grpSpPr>
        <p:sp>
          <p:nvSpPr>
            <p:cNvPr id="19" name="Freeform 19"/>
            <p:cNvSpPr/>
            <p:nvPr/>
          </p:nvSpPr>
          <p:spPr>
            <a:xfrm>
              <a:off x="0" y="0"/>
              <a:ext cx="2651760" cy="1767459"/>
            </a:xfrm>
            <a:custGeom>
              <a:avLst/>
              <a:gdLst/>
              <a:ahLst/>
              <a:cxnLst/>
              <a:rect l="l" t="t" r="r" b="b"/>
              <a:pathLst>
                <a:path w="2651760" h="1767459">
                  <a:moveTo>
                    <a:pt x="0" y="0"/>
                  </a:moveTo>
                  <a:lnTo>
                    <a:pt x="2651760" y="0"/>
                  </a:lnTo>
                  <a:lnTo>
                    <a:pt x="2651760" y="1767459"/>
                  </a:lnTo>
                  <a:lnTo>
                    <a:pt x="0" y="1767459"/>
                  </a:lnTo>
                  <a:lnTo>
                    <a:pt x="0" y="0"/>
                  </a:lnTo>
                  <a:close/>
                </a:path>
              </a:pathLst>
            </a:custGeom>
            <a:blipFill>
              <a:blip r:embed="rId15"/>
              <a:stretch>
                <a:fillRect r="1" b="-1"/>
              </a:stretch>
            </a:blipFill>
          </p:spPr>
        </p:sp>
      </p:grpSp>
      <p:sp>
        <p:nvSpPr>
          <p:cNvPr id="20" name="Freeform 20"/>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1" name="Freeform 21"/>
          <p:cNvSpPr/>
          <p:nvPr/>
        </p:nvSpPr>
        <p:spPr>
          <a:xfrm>
            <a:off x="762000" y="571500"/>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2" name="Freeform 22"/>
          <p:cNvSpPr/>
          <p:nvPr/>
        </p:nvSpPr>
        <p:spPr>
          <a:xfrm>
            <a:off x="507997" y="3355086"/>
            <a:ext cx="11175997" cy="1147810"/>
          </a:xfrm>
          <a:custGeom>
            <a:avLst/>
            <a:gdLst/>
            <a:ahLst/>
            <a:cxnLst/>
            <a:rect l="l" t="t" r="r" b="b"/>
            <a:pathLst>
              <a:path w="11175997" h="1147810">
                <a:moveTo>
                  <a:pt x="0" y="0"/>
                </a:moveTo>
                <a:lnTo>
                  <a:pt x="11175997" y="0"/>
                </a:lnTo>
                <a:lnTo>
                  <a:pt x="11175997" y="1147810"/>
                </a:lnTo>
                <a:lnTo>
                  <a:pt x="0" y="114781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3" name="TextBox 23"/>
          <p:cNvSpPr txBox="1"/>
          <p:nvPr/>
        </p:nvSpPr>
        <p:spPr>
          <a:xfrm>
            <a:off x="747732" y="3416865"/>
            <a:ext cx="1695450" cy="776592"/>
          </a:xfrm>
          <a:prstGeom prst="rect">
            <a:avLst/>
          </a:prstGeom>
        </p:spPr>
        <p:txBody>
          <a:bodyPr lIns="0" tIns="0" rIns="0" bIns="0" rtlCol="0" anchor="t">
            <a:spAutoFit/>
          </a:bodyPr>
          <a:lstStyle/>
          <a:p>
            <a:pPr algn="ctr">
              <a:lnSpc>
                <a:spcPts val="2100"/>
              </a:lnSpc>
            </a:pPr>
            <a:r>
              <a:rPr lang="en-US" sz="1500" b="1">
                <a:solidFill>
                  <a:srgbClr val="06B6D4"/>
                </a:solidFill>
                <a:latin typeface="Poppins Bold"/>
                <a:ea typeface="Poppins Bold"/>
                <a:cs typeface="Poppins Bold"/>
                <a:sym typeface="Poppins Bold"/>
              </a:rPr>
              <a:t>Visit</a:t>
            </a:r>
          </a:p>
          <a:p>
            <a:pPr algn="ctr">
              <a:lnSpc>
                <a:spcPts val="2014"/>
              </a:lnSpc>
            </a:pPr>
            <a:r>
              <a:rPr lang="en-US" sz="1050">
                <a:solidFill>
                  <a:srgbClr val="CBD5E1"/>
                </a:solidFill>
                <a:latin typeface="Lato"/>
                <a:ea typeface="Lato"/>
                <a:cs typeface="Lato"/>
                <a:sym typeface="Lato"/>
              </a:rPr>
              <a:t>User mengunjungi: Youtube, Instagram, Spotify, Google.</a:t>
            </a:r>
          </a:p>
        </p:txBody>
      </p:sp>
      <p:sp>
        <p:nvSpPr>
          <p:cNvPr id="24" name="TextBox 24"/>
          <p:cNvSpPr txBox="1"/>
          <p:nvPr/>
        </p:nvSpPr>
        <p:spPr>
          <a:xfrm>
            <a:off x="3586972" y="3359715"/>
            <a:ext cx="497624" cy="342900"/>
          </a:xfrm>
          <a:prstGeom prst="rect">
            <a:avLst/>
          </a:prstGeom>
        </p:spPr>
        <p:txBody>
          <a:bodyPr lIns="0" tIns="0" rIns="0" bIns="0" rtlCol="0" anchor="t">
            <a:spAutoFit/>
          </a:bodyPr>
          <a:lstStyle/>
          <a:p>
            <a:pPr algn="l">
              <a:lnSpc>
                <a:spcPts val="2739"/>
              </a:lnSpc>
            </a:pPr>
            <a:r>
              <a:rPr lang="en-US" sz="1500" b="1">
                <a:solidFill>
                  <a:srgbClr val="06B6D4"/>
                </a:solidFill>
                <a:latin typeface="Poppins Bold"/>
                <a:ea typeface="Poppins Bold"/>
                <a:cs typeface="Poppins Bold"/>
                <a:sym typeface="Poppins Bold"/>
              </a:rPr>
              <a:t>Back</a:t>
            </a:r>
          </a:p>
        </p:txBody>
      </p:sp>
      <p:sp>
        <p:nvSpPr>
          <p:cNvPr id="25" name="TextBox 25"/>
          <p:cNvSpPr txBox="1"/>
          <p:nvPr/>
        </p:nvSpPr>
        <p:spPr>
          <a:xfrm>
            <a:off x="3204305" y="3654352"/>
            <a:ext cx="1278426" cy="557536"/>
          </a:xfrm>
          <a:prstGeom prst="rect">
            <a:avLst/>
          </a:prstGeom>
        </p:spPr>
        <p:txBody>
          <a:bodyPr lIns="0" tIns="0" rIns="0" bIns="0" rtlCol="0" anchor="t">
            <a:spAutoFit/>
          </a:bodyPr>
          <a:lstStyle/>
          <a:p>
            <a:pPr algn="ctr">
              <a:lnSpc>
                <a:spcPts val="2625"/>
              </a:lnSpc>
            </a:pPr>
            <a:r>
              <a:rPr lang="en-US" sz="1050">
                <a:solidFill>
                  <a:srgbClr val="CBD5E1"/>
                </a:solidFill>
                <a:latin typeface="Lato"/>
                <a:ea typeface="Lato"/>
                <a:cs typeface="Lato"/>
                <a:sym typeface="Lato"/>
              </a:rPr>
              <a:t> → </a:t>
            </a:r>
          </a:p>
          <a:p>
            <a:pPr algn="ctr">
              <a:lnSpc>
                <a:spcPts val="2014"/>
              </a:lnSpc>
            </a:pPr>
            <a:r>
              <a:rPr lang="en-US" sz="1050">
                <a:solidFill>
                  <a:srgbClr val="CBD5E1"/>
                </a:solidFill>
                <a:latin typeface="Lato"/>
                <a:ea typeface="Lato"/>
                <a:cs typeface="Lato"/>
                <a:sym typeface="Lato"/>
              </a:rPr>
              <a:t>(Menggunakan LIFO).</a:t>
            </a:r>
          </a:p>
        </p:txBody>
      </p:sp>
      <p:sp>
        <p:nvSpPr>
          <p:cNvPr id="26" name="TextBox 26"/>
          <p:cNvSpPr txBox="1"/>
          <p:nvPr/>
        </p:nvSpPr>
        <p:spPr>
          <a:xfrm>
            <a:off x="5689778" y="3359715"/>
            <a:ext cx="828542" cy="342900"/>
          </a:xfrm>
          <a:prstGeom prst="rect">
            <a:avLst/>
          </a:prstGeom>
        </p:spPr>
        <p:txBody>
          <a:bodyPr lIns="0" tIns="0" rIns="0" bIns="0" rtlCol="0" anchor="t">
            <a:spAutoFit/>
          </a:bodyPr>
          <a:lstStyle/>
          <a:p>
            <a:pPr algn="l">
              <a:lnSpc>
                <a:spcPts val="2739"/>
              </a:lnSpc>
            </a:pPr>
            <a:r>
              <a:rPr lang="en-US" sz="1500" b="1">
                <a:solidFill>
                  <a:srgbClr val="06B6D4"/>
                </a:solidFill>
                <a:latin typeface="Poppins Bold"/>
                <a:ea typeface="Poppins Bold"/>
                <a:cs typeface="Poppins Bold"/>
                <a:sym typeface="Poppins Bold"/>
              </a:rPr>
              <a:t>Forward</a:t>
            </a:r>
          </a:p>
        </p:txBody>
      </p:sp>
      <p:sp>
        <p:nvSpPr>
          <p:cNvPr id="27" name="TextBox 27"/>
          <p:cNvSpPr txBox="1"/>
          <p:nvPr/>
        </p:nvSpPr>
        <p:spPr>
          <a:xfrm>
            <a:off x="6155798" y="3658495"/>
            <a:ext cx="26251" cy="293370"/>
          </a:xfrm>
          <a:prstGeom prst="rect">
            <a:avLst/>
          </a:prstGeom>
        </p:spPr>
        <p:txBody>
          <a:bodyPr lIns="0" tIns="0" rIns="0" bIns="0" rtlCol="0" anchor="t">
            <a:spAutoFit/>
          </a:bodyPr>
          <a:lstStyle/>
          <a:p>
            <a:pPr algn="l">
              <a:lnSpc>
                <a:spcPts val="2625"/>
              </a:lnSpc>
            </a:pPr>
            <a:r>
              <a:rPr lang="en-US" sz="1050">
                <a:solidFill>
                  <a:srgbClr val="CBD5E1"/>
                </a:solidFill>
                <a:latin typeface="Lato"/>
                <a:ea typeface="Lato"/>
                <a:cs typeface="Lato"/>
                <a:sym typeface="Lato"/>
              </a:rPr>
              <a:t> </a:t>
            </a:r>
          </a:p>
        </p:txBody>
      </p:sp>
      <p:sp>
        <p:nvSpPr>
          <p:cNvPr id="28" name="TextBox 28"/>
          <p:cNvSpPr txBox="1"/>
          <p:nvPr/>
        </p:nvSpPr>
        <p:spPr>
          <a:xfrm>
            <a:off x="7567974" y="3359715"/>
            <a:ext cx="1643901" cy="833742"/>
          </a:xfrm>
          <a:prstGeom prst="rect">
            <a:avLst/>
          </a:prstGeom>
        </p:spPr>
        <p:txBody>
          <a:bodyPr lIns="0" tIns="0" rIns="0" bIns="0" rtlCol="0" anchor="t">
            <a:spAutoFit/>
          </a:bodyPr>
          <a:lstStyle/>
          <a:p>
            <a:pPr algn="ctr">
              <a:lnSpc>
                <a:spcPts val="2739"/>
              </a:lnSpc>
            </a:pPr>
            <a:r>
              <a:rPr lang="en-US" sz="1500" b="1">
                <a:solidFill>
                  <a:srgbClr val="06B6D4"/>
                </a:solidFill>
                <a:latin typeface="Poppins Bold"/>
                <a:ea typeface="Poppins Bold"/>
                <a:cs typeface="Poppins Bold"/>
                <a:sym typeface="Poppins Bold"/>
              </a:rPr>
              <a:t>History</a:t>
            </a:r>
          </a:p>
          <a:p>
            <a:pPr algn="ctr">
              <a:lnSpc>
                <a:spcPts val="2014"/>
              </a:lnSpc>
            </a:pPr>
            <a:r>
              <a:rPr lang="en-US" sz="1050" spc="8">
                <a:solidFill>
                  <a:srgbClr val="CBD5E1"/>
                </a:solidFill>
                <a:latin typeface="Lato"/>
                <a:ea typeface="Lato"/>
                <a:cs typeface="Lato"/>
                <a:sym typeface="Lato"/>
              </a:rPr>
              <a:t>Menampilkan semuadaftar website (FIFO).</a:t>
            </a:r>
          </a:p>
        </p:txBody>
      </p:sp>
      <p:sp>
        <p:nvSpPr>
          <p:cNvPr id="29" name="TextBox 29"/>
          <p:cNvSpPr txBox="1"/>
          <p:nvPr/>
        </p:nvSpPr>
        <p:spPr>
          <a:xfrm>
            <a:off x="8769991" y="3658495"/>
            <a:ext cx="26251" cy="293370"/>
          </a:xfrm>
          <a:prstGeom prst="rect">
            <a:avLst/>
          </a:prstGeom>
        </p:spPr>
        <p:txBody>
          <a:bodyPr lIns="0" tIns="0" rIns="0" bIns="0" rtlCol="0" anchor="t">
            <a:spAutoFit/>
          </a:bodyPr>
          <a:lstStyle/>
          <a:p>
            <a:pPr algn="r">
              <a:lnSpc>
                <a:spcPts val="2625"/>
              </a:lnSpc>
            </a:pPr>
            <a:r>
              <a:rPr lang="en-US" sz="1050">
                <a:solidFill>
                  <a:srgbClr val="CBD5E1"/>
                </a:solidFill>
                <a:latin typeface="Lato"/>
                <a:ea typeface="Lato"/>
                <a:cs typeface="Lato"/>
                <a:sym typeface="Lato"/>
              </a:rPr>
              <a:t> </a:t>
            </a:r>
          </a:p>
        </p:txBody>
      </p:sp>
      <p:sp>
        <p:nvSpPr>
          <p:cNvPr id="30" name="TextBox 30"/>
          <p:cNvSpPr txBox="1"/>
          <p:nvPr/>
        </p:nvSpPr>
        <p:spPr>
          <a:xfrm>
            <a:off x="10451649" y="3416865"/>
            <a:ext cx="355587" cy="285750"/>
          </a:xfrm>
          <a:prstGeom prst="rect">
            <a:avLst/>
          </a:prstGeom>
        </p:spPr>
        <p:txBody>
          <a:bodyPr lIns="0" tIns="0" rIns="0" bIns="0" rtlCol="0" anchor="t">
            <a:spAutoFit/>
          </a:bodyPr>
          <a:lstStyle/>
          <a:p>
            <a:pPr algn="l">
              <a:lnSpc>
                <a:spcPts val="2100"/>
              </a:lnSpc>
            </a:pPr>
            <a:r>
              <a:rPr lang="en-US" sz="1500" b="1">
                <a:solidFill>
                  <a:srgbClr val="06B6D4"/>
                </a:solidFill>
                <a:latin typeface="Poppins Bold"/>
                <a:ea typeface="Poppins Bold"/>
                <a:cs typeface="Poppins Bold"/>
                <a:sym typeface="Poppins Bold"/>
              </a:rPr>
              <a:t>Exit</a:t>
            </a:r>
          </a:p>
        </p:txBody>
      </p:sp>
      <p:sp>
        <p:nvSpPr>
          <p:cNvPr id="31" name="TextBox 31"/>
          <p:cNvSpPr txBox="1"/>
          <p:nvPr/>
        </p:nvSpPr>
        <p:spPr>
          <a:xfrm>
            <a:off x="3321577" y="3715645"/>
            <a:ext cx="426682" cy="236220"/>
          </a:xfrm>
          <a:prstGeom prst="rect">
            <a:avLst/>
          </a:prstGeom>
        </p:spPr>
        <p:txBody>
          <a:bodyPr lIns="0" tIns="0" rIns="0" bIns="0" rtlCol="0" anchor="t">
            <a:spAutoFit/>
          </a:bodyPr>
          <a:lstStyle/>
          <a:p>
            <a:pPr algn="l">
              <a:lnSpc>
                <a:spcPts val="2014"/>
              </a:lnSpc>
            </a:pPr>
            <a:r>
              <a:rPr lang="en-US" sz="1050">
                <a:solidFill>
                  <a:srgbClr val="CBD5E1"/>
                </a:solidFill>
                <a:latin typeface="Lato"/>
                <a:ea typeface="Lato"/>
                <a:cs typeface="Lato"/>
                <a:sym typeface="Lato"/>
              </a:rPr>
              <a:t>Google</a:t>
            </a:r>
          </a:p>
        </p:txBody>
      </p:sp>
      <p:sp>
        <p:nvSpPr>
          <p:cNvPr id="32" name="TextBox 32"/>
          <p:cNvSpPr txBox="1"/>
          <p:nvPr/>
        </p:nvSpPr>
        <p:spPr>
          <a:xfrm>
            <a:off x="3924719" y="3715645"/>
            <a:ext cx="450085" cy="236220"/>
          </a:xfrm>
          <a:prstGeom prst="rect">
            <a:avLst/>
          </a:prstGeom>
        </p:spPr>
        <p:txBody>
          <a:bodyPr lIns="0" tIns="0" rIns="0" bIns="0" rtlCol="0" anchor="t">
            <a:spAutoFit/>
          </a:bodyPr>
          <a:lstStyle/>
          <a:p>
            <a:pPr algn="l">
              <a:lnSpc>
                <a:spcPts val="2014"/>
              </a:lnSpc>
            </a:pPr>
            <a:r>
              <a:rPr lang="en-US" sz="1050">
                <a:solidFill>
                  <a:srgbClr val="CBD5E1"/>
                </a:solidFill>
                <a:latin typeface="Lato"/>
                <a:ea typeface="Lato"/>
                <a:cs typeface="Lato"/>
                <a:sym typeface="Lato"/>
              </a:rPr>
              <a:t>Spotify </a:t>
            </a:r>
          </a:p>
        </p:txBody>
      </p:sp>
      <p:sp>
        <p:nvSpPr>
          <p:cNvPr id="33" name="TextBox 33"/>
          <p:cNvSpPr txBox="1"/>
          <p:nvPr/>
        </p:nvSpPr>
        <p:spPr>
          <a:xfrm>
            <a:off x="5389902" y="3715645"/>
            <a:ext cx="1466669" cy="747979"/>
          </a:xfrm>
          <a:prstGeom prst="rect">
            <a:avLst/>
          </a:prstGeom>
        </p:spPr>
        <p:txBody>
          <a:bodyPr lIns="0" tIns="0" rIns="0" bIns="0" rtlCol="0" anchor="t">
            <a:spAutoFit/>
          </a:bodyPr>
          <a:lstStyle/>
          <a:p>
            <a:pPr algn="ctr">
              <a:lnSpc>
                <a:spcPts val="2014"/>
              </a:lnSpc>
            </a:pPr>
            <a:r>
              <a:rPr lang="en-US" sz="1050">
                <a:solidFill>
                  <a:srgbClr val="CBD5E1"/>
                </a:solidFill>
                <a:latin typeface="Lato"/>
                <a:ea typeface="Lato"/>
                <a:cs typeface="Lato"/>
                <a:sym typeface="Lato"/>
              </a:rPr>
              <a:t>Kembali kehalaman selanjutnya yang pernah dibuka.</a:t>
            </a:r>
          </a:p>
        </p:txBody>
      </p:sp>
      <p:sp>
        <p:nvSpPr>
          <p:cNvPr id="34" name="TextBox 34"/>
          <p:cNvSpPr txBox="1"/>
          <p:nvPr/>
        </p:nvSpPr>
        <p:spPr>
          <a:xfrm>
            <a:off x="9878330" y="3715645"/>
            <a:ext cx="1551413" cy="492100"/>
          </a:xfrm>
          <a:prstGeom prst="rect">
            <a:avLst/>
          </a:prstGeom>
        </p:spPr>
        <p:txBody>
          <a:bodyPr lIns="0" tIns="0" rIns="0" bIns="0" rtlCol="0" anchor="t">
            <a:spAutoFit/>
          </a:bodyPr>
          <a:lstStyle/>
          <a:p>
            <a:pPr algn="ctr">
              <a:lnSpc>
                <a:spcPts val="2014"/>
              </a:lnSpc>
            </a:pPr>
            <a:r>
              <a:rPr lang="en-US" sz="1050">
                <a:solidFill>
                  <a:srgbClr val="CBD5E1"/>
                </a:solidFill>
                <a:latin typeface="Lato"/>
                <a:ea typeface="Lato"/>
                <a:cs typeface="Lato"/>
                <a:sym typeface="Lato"/>
              </a:rPr>
              <a:t>Menghentikan sistem dan menghapus memori </a:t>
            </a:r>
          </a:p>
        </p:txBody>
      </p:sp>
      <p:sp>
        <p:nvSpPr>
          <p:cNvPr id="35" name="TextBox 35"/>
          <p:cNvSpPr txBox="1"/>
          <p:nvPr/>
        </p:nvSpPr>
        <p:spPr>
          <a:xfrm>
            <a:off x="10303116" y="4227405"/>
            <a:ext cx="658597" cy="236220"/>
          </a:xfrm>
          <a:prstGeom prst="rect">
            <a:avLst/>
          </a:prstGeom>
        </p:spPr>
        <p:txBody>
          <a:bodyPr lIns="0" tIns="0" rIns="0" bIns="0" rtlCol="0" anchor="t">
            <a:spAutoFit/>
          </a:bodyPr>
          <a:lstStyle/>
          <a:p>
            <a:pPr algn="l">
              <a:lnSpc>
                <a:spcPts val="2014"/>
              </a:lnSpc>
            </a:pPr>
            <a:r>
              <a:rPr lang="en-US" sz="1050">
                <a:solidFill>
                  <a:srgbClr val="CBD5E1"/>
                </a:solidFill>
                <a:latin typeface="Lato"/>
                <a:ea typeface="Lato"/>
                <a:cs typeface="Lato"/>
                <a:sym typeface="Lato"/>
              </a:rPr>
              <a:t>sementara.</a:t>
            </a:r>
          </a:p>
        </p:txBody>
      </p:sp>
      <p:sp>
        <p:nvSpPr>
          <p:cNvPr id="36" name="TextBox 36"/>
          <p:cNvSpPr txBox="1"/>
          <p:nvPr/>
        </p:nvSpPr>
        <p:spPr>
          <a:xfrm>
            <a:off x="762000" y="577253"/>
            <a:ext cx="5264868"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ALUR PENGUJIAN SISTEM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571500" y="1738312"/>
            <a:ext cx="4327027" cy="4381500"/>
          </a:xfrm>
          <a:custGeom>
            <a:avLst/>
            <a:gdLst/>
            <a:ahLst/>
            <a:cxnLst/>
            <a:rect l="l" t="t" r="r" b="b"/>
            <a:pathLst>
              <a:path w="4327027" h="4381500">
                <a:moveTo>
                  <a:pt x="0" y="0"/>
                </a:moveTo>
                <a:lnTo>
                  <a:pt x="4327027" y="0"/>
                </a:lnTo>
                <a:lnTo>
                  <a:pt x="4327027" y="4381500"/>
                </a:lnTo>
                <a:lnTo>
                  <a:pt x="0" y="4381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571500" y="1738312"/>
            <a:ext cx="4327027" cy="4381500"/>
            <a:chOff x="0" y="0"/>
            <a:chExt cx="5769369" cy="5842000"/>
          </a:xfrm>
        </p:grpSpPr>
        <p:sp>
          <p:nvSpPr>
            <p:cNvPr id="7" name="Freeform 7"/>
            <p:cNvSpPr/>
            <p:nvPr/>
          </p:nvSpPr>
          <p:spPr>
            <a:xfrm>
              <a:off x="0" y="0"/>
              <a:ext cx="5769356" cy="5842000"/>
            </a:xfrm>
            <a:custGeom>
              <a:avLst/>
              <a:gdLst/>
              <a:ahLst/>
              <a:cxnLst/>
              <a:rect l="l" t="t" r="r" b="b"/>
              <a:pathLst>
                <a:path w="5769356" h="5842000">
                  <a:moveTo>
                    <a:pt x="0" y="0"/>
                  </a:moveTo>
                  <a:lnTo>
                    <a:pt x="5769356" y="0"/>
                  </a:lnTo>
                  <a:lnTo>
                    <a:pt x="5769356" y="5842000"/>
                  </a:lnTo>
                  <a:lnTo>
                    <a:pt x="0" y="5842000"/>
                  </a:lnTo>
                  <a:lnTo>
                    <a:pt x="0" y="0"/>
                  </a:lnTo>
                  <a:close/>
                </a:path>
              </a:pathLst>
            </a:custGeom>
            <a:blipFill>
              <a:blip r:embed="rId7"/>
              <a:stretch>
                <a:fillRect/>
              </a:stretch>
            </a:blipFill>
          </p:spPr>
        </p:sp>
      </p:grpSp>
      <p:sp>
        <p:nvSpPr>
          <p:cNvPr id="8" name="Freeform 8"/>
          <p:cNvSpPr/>
          <p:nvPr/>
        </p:nvSpPr>
        <p:spPr>
          <a:xfrm>
            <a:off x="5184277" y="1738312"/>
            <a:ext cx="3075232" cy="4381500"/>
          </a:xfrm>
          <a:custGeom>
            <a:avLst/>
            <a:gdLst/>
            <a:ahLst/>
            <a:cxnLst/>
            <a:rect l="l" t="t" r="r" b="b"/>
            <a:pathLst>
              <a:path w="3075232" h="4381500">
                <a:moveTo>
                  <a:pt x="0" y="0"/>
                </a:moveTo>
                <a:lnTo>
                  <a:pt x="3075231" y="0"/>
                </a:lnTo>
                <a:lnTo>
                  <a:pt x="3075231" y="4381500"/>
                </a:lnTo>
                <a:lnTo>
                  <a:pt x="0" y="43815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8545268" y="1738312"/>
            <a:ext cx="3075232" cy="4381500"/>
          </a:xfrm>
          <a:custGeom>
            <a:avLst/>
            <a:gdLst/>
            <a:ahLst/>
            <a:cxnLst/>
            <a:rect l="l" t="t" r="r" b="b"/>
            <a:pathLst>
              <a:path w="3075232" h="4381500">
                <a:moveTo>
                  <a:pt x="0" y="0"/>
                </a:moveTo>
                <a:lnTo>
                  <a:pt x="3075232" y="0"/>
                </a:lnTo>
                <a:lnTo>
                  <a:pt x="3075232" y="4381500"/>
                </a:lnTo>
                <a:lnTo>
                  <a:pt x="0" y="4381500"/>
                </a:lnTo>
                <a:lnTo>
                  <a:pt x="0" y="0"/>
                </a:lnTo>
                <a:close/>
              </a:path>
            </a:pathLst>
          </a:custGeom>
          <a:blipFill>
            <a:blip r:embed="rId8">
              <a:extLst>
                <a:ext uri="{96DAC541-7B7A-43D3-8B79-37D633B846F1}">
                  <asvg:svgBlip xmlns:asvg="http://schemas.microsoft.com/office/drawing/2016/SVG/main" r:embed="rId10"/>
                </a:ext>
              </a:extLst>
            </a:blip>
            <a:stretch>
              <a:fillRect/>
            </a:stretch>
          </a:blipFill>
        </p:spPr>
      </p:sp>
      <p:grpSp>
        <p:nvGrpSpPr>
          <p:cNvPr id="10" name="Group 10"/>
          <p:cNvGrpSpPr/>
          <p:nvPr/>
        </p:nvGrpSpPr>
        <p:grpSpPr>
          <a:xfrm>
            <a:off x="5184277" y="1738312"/>
            <a:ext cx="6436223" cy="4381500"/>
            <a:chOff x="0" y="0"/>
            <a:chExt cx="8581631" cy="5842000"/>
          </a:xfrm>
        </p:grpSpPr>
        <p:sp>
          <p:nvSpPr>
            <p:cNvPr id="11" name="Freeform 11"/>
            <p:cNvSpPr/>
            <p:nvPr/>
          </p:nvSpPr>
          <p:spPr>
            <a:xfrm>
              <a:off x="0" y="0"/>
              <a:ext cx="8581644" cy="5842000"/>
            </a:xfrm>
            <a:custGeom>
              <a:avLst/>
              <a:gdLst/>
              <a:ahLst/>
              <a:cxnLst/>
              <a:rect l="l" t="t" r="r" b="b"/>
              <a:pathLst>
                <a:path w="8581644" h="5842000">
                  <a:moveTo>
                    <a:pt x="0" y="0"/>
                  </a:moveTo>
                  <a:lnTo>
                    <a:pt x="8581644" y="0"/>
                  </a:lnTo>
                  <a:lnTo>
                    <a:pt x="8581644" y="5842000"/>
                  </a:lnTo>
                  <a:lnTo>
                    <a:pt x="0" y="5842000"/>
                  </a:lnTo>
                  <a:lnTo>
                    <a:pt x="0" y="0"/>
                  </a:lnTo>
                  <a:close/>
                </a:path>
              </a:pathLst>
            </a:custGeom>
            <a:blipFill>
              <a:blip r:embed="rId11"/>
              <a:stretch>
                <a:fillRect/>
              </a:stretch>
            </a:blipFill>
          </p:spPr>
        </p:sp>
      </p:grpSp>
      <p:sp>
        <p:nvSpPr>
          <p:cNvPr id="12" name="Freeform 12"/>
          <p:cNvSpPr/>
          <p:nvPr/>
        </p:nvSpPr>
        <p:spPr>
          <a:xfrm>
            <a:off x="857250" y="2024062"/>
            <a:ext cx="3755527" cy="2381250"/>
          </a:xfrm>
          <a:custGeom>
            <a:avLst/>
            <a:gdLst/>
            <a:ahLst/>
            <a:cxnLst/>
            <a:rect l="l" t="t" r="r" b="b"/>
            <a:pathLst>
              <a:path w="3755527" h="2381250">
                <a:moveTo>
                  <a:pt x="0" y="0"/>
                </a:moveTo>
                <a:lnTo>
                  <a:pt x="3755527" y="0"/>
                </a:lnTo>
                <a:lnTo>
                  <a:pt x="3755527" y="2381250"/>
                </a:lnTo>
                <a:lnTo>
                  <a:pt x="0" y="23812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13" name="Group 13"/>
          <p:cNvGrpSpPr/>
          <p:nvPr/>
        </p:nvGrpSpPr>
        <p:grpSpPr>
          <a:xfrm>
            <a:off x="857250" y="2024062"/>
            <a:ext cx="3755527" cy="2381250"/>
            <a:chOff x="0" y="0"/>
            <a:chExt cx="5007369" cy="3175000"/>
          </a:xfrm>
        </p:grpSpPr>
        <p:sp>
          <p:nvSpPr>
            <p:cNvPr id="14" name="Freeform 14"/>
            <p:cNvSpPr/>
            <p:nvPr/>
          </p:nvSpPr>
          <p:spPr>
            <a:xfrm>
              <a:off x="0" y="0"/>
              <a:ext cx="5007356" cy="3175000"/>
            </a:xfrm>
            <a:custGeom>
              <a:avLst/>
              <a:gdLst/>
              <a:ahLst/>
              <a:cxnLst/>
              <a:rect l="l" t="t" r="r" b="b"/>
              <a:pathLst>
                <a:path w="5007356" h="3175000">
                  <a:moveTo>
                    <a:pt x="0" y="0"/>
                  </a:moveTo>
                  <a:lnTo>
                    <a:pt x="5007356" y="0"/>
                  </a:lnTo>
                  <a:lnTo>
                    <a:pt x="5007356" y="3175000"/>
                  </a:lnTo>
                  <a:lnTo>
                    <a:pt x="0" y="3175000"/>
                  </a:lnTo>
                  <a:lnTo>
                    <a:pt x="0" y="0"/>
                  </a:lnTo>
                  <a:close/>
                </a:path>
              </a:pathLst>
            </a:custGeom>
            <a:blipFill>
              <a:blip r:embed="rId14"/>
              <a:stretch>
                <a:fillRect/>
              </a:stretch>
            </a:blipFill>
          </p:spPr>
        </p:sp>
      </p:grpSp>
      <p:sp>
        <p:nvSpPr>
          <p:cNvPr id="15" name="Freeform 15"/>
          <p:cNvSpPr/>
          <p:nvPr/>
        </p:nvSpPr>
        <p:spPr>
          <a:xfrm>
            <a:off x="857250" y="4995862"/>
            <a:ext cx="3755527" cy="609600"/>
          </a:xfrm>
          <a:custGeom>
            <a:avLst/>
            <a:gdLst/>
            <a:ahLst/>
            <a:cxnLst/>
            <a:rect l="l" t="t" r="r" b="b"/>
            <a:pathLst>
              <a:path w="3755527" h="609600">
                <a:moveTo>
                  <a:pt x="0" y="0"/>
                </a:moveTo>
                <a:lnTo>
                  <a:pt x="3755527" y="0"/>
                </a:lnTo>
                <a:lnTo>
                  <a:pt x="3755527" y="609600"/>
                </a:lnTo>
                <a:lnTo>
                  <a:pt x="0" y="6096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6" name="Freeform 16"/>
          <p:cNvSpPr/>
          <p:nvPr/>
        </p:nvSpPr>
        <p:spPr>
          <a:xfrm>
            <a:off x="699859" y="1970084"/>
            <a:ext cx="4070309" cy="2898772"/>
          </a:xfrm>
          <a:custGeom>
            <a:avLst/>
            <a:gdLst/>
            <a:ahLst/>
            <a:cxnLst/>
            <a:rect l="l" t="t" r="r" b="b"/>
            <a:pathLst>
              <a:path w="4070309" h="2898772">
                <a:moveTo>
                  <a:pt x="0" y="0"/>
                </a:moveTo>
                <a:lnTo>
                  <a:pt x="4070309" y="0"/>
                </a:lnTo>
                <a:lnTo>
                  <a:pt x="4070309" y="2898772"/>
                </a:lnTo>
                <a:lnTo>
                  <a:pt x="0" y="289877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7" name="Freeform 17"/>
          <p:cNvSpPr/>
          <p:nvPr/>
        </p:nvSpPr>
        <p:spPr>
          <a:xfrm>
            <a:off x="5407438" y="2786062"/>
            <a:ext cx="2628919" cy="400050"/>
          </a:xfrm>
          <a:custGeom>
            <a:avLst/>
            <a:gdLst/>
            <a:ahLst/>
            <a:cxnLst/>
            <a:rect l="l" t="t" r="r" b="b"/>
            <a:pathLst>
              <a:path w="2628919" h="400050">
                <a:moveTo>
                  <a:pt x="0" y="0"/>
                </a:moveTo>
                <a:lnTo>
                  <a:pt x="2628919" y="0"/>
                </a:lnTo>
                <a:lnTo>
                  <a:pt x="2628919" y="400050"/>
                </a:lnTo>
                <a:lnTo>
                  <a:pt x="0" y="400050"/>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8" name="Freeform 18"/>
          <p:cNvSpPr/>
          <p:nvPr/>
        </p:nvSpPr>
        <p:spPr>
          <a:xfrm>
            <a:off x="5470027" y="3376612"/>
            <a:ext cx="2503732" cy="914400"/>
          </a:xfrm>
          <a:custGeom>
            <a:avLst/>
            <a:gdLst/>
            <a:ahLst/>
            <a:cxnLst/>
            <a:rect l="l" t="t" r="r" b="b"/>
            <a:pathLst>
              <a:path w="2503732" h="914400">
                <a:moveTo>
                  <a:pt x="0" y="0"/>
                </a:moveTo>
                <a:lnTo>
                  <a:pt x="2503731" y="0"/>
                </a:lnTo>
                <a:lnTo>
                  <a:pt x="2503731" y="914400"/>
                </a:lnTo>
                <a:lnTo>
                  <a:pt x="0" y="91440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9" name="Freeform 19"/>
          <p:cNvSpPr/>
          <p:nvPr/>
        </p:nvSpPr>
        <p:spPr>
          <a:xfrm>
            <a:off x="8768420" y="2786062"/>
            <a:ext cx="2628919" cy="400050"/>
          </a:xfrm>
          <a:custGeom>
            <a:avLst/>
            <a:gdLst/>
            <a:ahLst/>
            <a:cxnLst/>
            <a:rect l="l" t="t" r="r" b="b"/>
            <a:pathLst>
              <a:path w="2628919" h="400050">
                <a:moveTo>
                  <a:pt x="0" y="0"/>
                </a:moveTo>
                <a:lnTo>
                  <a:pt x="2628919" y="0"/>
                </a:lnTo>
                <a:lnTo>
                  <a:pt x="2628919" y="400050"/>
                </a:lnTo>
                <a:lnTo>
                  <a:pt x="0" y="400050"/>
                </a:lnTo>
                <a:lnTo>
                  <a:pt x="0" y="0"/>
                </a:lnTo>
                <a:close/>
              </a:path>
            </a:pathLst>
          </a:custGeom>
          <a:blipFill>
            <a:blip r:embed="rId19">
              <a:extLst>
                <a:ext uri="{96DAC541-7B7A-43D3-8B79-37D633B846F1}">
                  <asvg:svgBlip xmlns:asvg="http://schemas.microsoft.com/office/drawing/2016/SVG/main" r:embed="rId23"/>
                </a:ext>
              </a:extLst>
            </a:blip>
            <a:stretch>
              <a:fillRect/>
            </a:stretch>
          </a:blipFill>
        </p:spPr>
      </p:sp>
      <p:sp>
        <p:nvSpPr>
          <p:cNvPr id="20" name="Freeform 20"/>
          <p:cNvSpPr/>
          <p:nvPr/>
        </p:nvSpPr>
        <p:spPr>
          <a:xfrm>
            <a:off x="8831018" y="3376612"/>
            <a:ext cx="2503732" cy="914400"/>
          </a:xfrm>
          <a:custGeom>
            <a:avLst/>
            <a:gdLst/>
            <a:ahLst/>
            <a:cxnLst/>
            <a:rect l="l" t="t" r="r" b="b"/>
            <a:pathLst>
              <a:path w="2503732" h="914400">
                <a:moveTo>
                  <a:pt x="0" y="0"/>
                </a:moveTo>
                <a:lnTo>
                  <a:pt x="2503732" y="0"/>
                </a:lnTo>
                <a:lnTo>
                  <a:pt x="2503732" y="914400"/>
                </a:lnTo>
                <a:lnTo>
                  <a:pt x="0" y="914400"/>
                </a:lnTo>
                <a:lnTo>
                  <a:pt x="0" y="0"/>
                </a:lnTo>
                <a:close/>
              </a:path>
            </a:pathLst>
          </a:custGeom>
          <a:blipFill>
            <a:blip r:embed="rId21">
              <a:extLst>
                <a:ext uri="{96DAC541-7B7A-43D3-8B79-37D633B846F1}">
                  <asvg:svgBlip xmlns:asvg="http://schemas.microsoft.com/office/drawing/2016/SVG/main" r:embed="rId24"/>
                </a:ext>
              </a:extLst>
            </a:blip>
            <a:stretch>
              <a:fillRect/>
            </a:stretch>
          </a:blipFill>
        </p:spPr>
      </p:sp>
      <p:grpSp>
        <p:nvGrpSpPr>
          <p:cNvPr id="21" name="Group 21"/>
          <p:cNvGrpSpPr/>
          <p:nvPr/>
        </p:nvGrpSpPr>
        <p:grpSpPr>
          <a:xfrm>
            <a:off x="866775" y="2033588"/>
            <a:ext cx="3736477" cy="2362200"/>
            <a:chOff x="0" y="0"/>
            <a:chExt cx="4981969" cy="3149600"/>
          </a:xfrm>
        </p:grpSpPr>
        <p:sp>
          <p:nvSpPr>
            <p:cNvPr id="22" name="Freeform 22"/>
            <p:cNvSpPr/>
            <p:nvPr/>
          </p:nvSpPr>
          <p:spPr>
            <a:xfrm>
              <a:off x="0" y="0"/>
              <a:ext cx="4981956" cy="3149600"/>
            </a:xfrm>
            <a:custGeom>
              <a:avLst/>
              <a:gdLst/>
              <a:ahLst/>
              <a:cxnLst/>
              <a:rect l="l" t="t" r="r" b="b"/>
              <a:pathLst>
                <a:path w="4981956" h="3149600">
                  <a:moveTo>
                    <a:pt x="0" y="0"/>
                  </a:moveTo>
                  <a:lnTo>
                    <a:pt x="4981956" y="0"/>
                  </a:lnTo>
                  <a:lnTo>
                    <a:pt x="4981956" y="3149600"/>
                  </a:lnTo>
                  <a:lnTo>
                    <a:pt x="0" y="3149600"/>
                  </a:lnTo>
                  <a:lnTo>
                    <a:pt x="0" y="0"/>
                  </a:lnTo>
                  <a:close/>
                </a:path>
              </a:pathLst>
            </a:custGeom>
            <a:blipFill>
              <a:blip r:embed="rId25"/>
              <a:stretch>
                <a:fillRect/>
              </a:stretch>
            </a:blipFill>
          </p:spPr>
        </p:sp>
      </p:grpSp>
      <p:sp>
        <p:nvSpPr>
          <p:cNvPr id="23" name="Freeform 23"/>
          <p:cNvSpPr/>
          <p:nvPr/>
        </p:nvSpPr>
        <p:spPr>
          <a:xfrm>
            <a:off x="6512271" y="2071688"/>
            <a:ext cx="419100" cy="476250"/>
          </a:xfrm>
          <a:custGeom>
            <a:avLst/>
            <a:gdLst/>
            <a:ahLst/>
            <a:cxnLst/>
            <a:rect l="l" t="t" r="r" b="b"/>
            <a:pathLst>
              <a:path w="419100" h="476250">
                <a:moveTo>
                  <a:pt x="0" y="0"/>
                </a:moveTo>
                <a:lnTo>
                  <a:pt x="419100" y="0"/>
                </a:lnTo>
                <a:lnTo>
                  <a:pt x="419100" y="476250"/>
                </a:lnTo>
                <a:lnTo>
                  <a:pt x="0" y="47625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grpSp>
        <p:nvGrpSpPr>
          <p:cNvPr id="24" name="Group 24"/>
          <p:cNvGrpSpPr/>
          <p:nvPr/>
        </p:nvGrpSpPr>
        <p:grpSpPr>
          <a:xfrm>
            <a:off x="6512271" y="2071688"/>
            <a:ext cx="419100" cy="476250"/>
            <a:chOff x="0" y="0"/>
            <a:chExt cx="558800" cy="635000"/>
          </a:xfrm>
        </p:grpSpPr>
        <p:sp>
          <p:nvSpPr>
            <p:cNvPr id="25" name="Freeform 25"/>
            <p:cNvSpPr/>
            <p:nvPr/>
          </p:nvSpPr>
          <p:spPr>
            <a:xfrm>
              <a:off x="0" y="0"/>
              <a:ext cx="558800" cy="635000"/>
            </a:xfrm>
            <a:custGeom>
              <a:avLst/>
              <a:gdLst/>
              <a:ahLst/>
              <a:cxnLst/>
              <a:rect l="l" t="t" r="r" b="b"/>
              <a:pathLst>
                <a:path w="558800" h="635000">
                  <a:moveTo>
                    <a:pt x="0" y="0"/>
                  </a:moveTo>
                  <a:lnTo>
                    <a:pt x="558800" y="0"/>
                  </a:lnTo>
                  <a:lnTo>
                    <a:pt x="558800" y="635000"/>
                  </a:lnTo>
                  <a:lnTo>
                    <a:pt x="0" y="635000"/>
                  </a:lnTo>
                  <a:lnTo>
                    <a:pt x="0" y="0"/>
                  </a:lnTo>
                  <a:close/>
                </a:path>
              </a:pathLst>
            </a:custGeom>
            <a:blipFill>
              <a:blip r:embed="rId28"/>
              <a:stretch>
                <a:fillRect/>
              </a:stretch>
            </a:blipFill>
          </p:spPr>
        </p:sp>
      </p:grpSp>
      <p:sp>
        <p:nvSpPr>
          <p:cNvPr id="26" name="Freeform 26"/>
          <p:cNvSpPr/>
          <p:nvPr/>
        </p:nvSpPr>
        <p:spPr>
          <a:xfrm>
            <a:off x="9844678" y="2071688"/>
            <a:ext cx="476250" cy="476250"/>
          </a:xfrm>
          <a:custGeom>
            <a:avLst/>
            <a:gdLst/>
            <a:ahLst/>
            <a:cxnLst/>
            <a:rect l="l" t="t" r="r" b="b"/>
            <a:pathLst>
              <a:path w="476250" h="476250">
                <a:moveTo>
                  <a:pt x="0" y="0"/>
                </a:moveTo>
                <a:lnTo>
                  <a:pt x="476250" y="0"/>
                </a:lnTo>
                <a:lnTo>
                  <a:pt x="476250" y="476250"/>
                </a:lnTo>
                <a:lnTo>
                  <a:pt x="0" y="476250"/>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grpSp>
        <p:nvGrpSpPr>
          <p:cNvPr id="27" name="Group 27"/>
          <p:cNvGrpSpPr/>
          <p:nvPr/>
        </p:nvGrpSpPr>
        <p:grpSpPr>
          <a:xfrm>
            <a:off x="9844678" y="2071688"/>
            <a:ext cx="476250" cy="476250"/>
            <a:chOff x="0" y="0"/>
            <a:chExt cx="635000" cy="635000"/>
          </a:xfrm>
        </p:grpSpPr>
        <p:sp>
          <p:nvSpPr>
            <p:cNvPr id="28" name="Freeform 28"/>
            <p:cNvSpPr/>
            <p:nvPr/>
          </p:nvSpPr>
          <p:spPr>
            <a:xfrm>
              <a:off x="0" y="0"/>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blipFill>
              <a:blip r:embed="rId31"/>
              <a:stretch>
                <a:fillRect/>
              </a:stretch>
            </a:blipFill>
          </p:spPr>
        </p:sp>
      </p:grpSp>
      <p:sp>
        <p:nvSpPr>
          <p:cNvPr id="29" name="Freeform 29"/>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
        <p:nvSpPr>
          <p:cNvPr id="30" name="Freeform 30"/>
          <p:cNvSpPr/>
          <p:nvPr/>
        </p:nvSpPr>
        <p:spPr>
          <a:xfrm>
            <a:off x="762000" y="571500"/>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sp>
      <p:sp>
        <p:nvSpPr>
          <p:cNvPr id="31" name="TextBox 31"/>
          <p:cNvSpPr txBox="1"/>
          <p:nvPr/>
        </p:nvSpPr>
        <p:spPr>
          <a:xfrm>
            <a:off x="894979" y="4412437"/>
            <a:ext cx="3791179" cy="1146734"/>
          </a:xfrm>
          <a:prstGeom prst="rect">
            <a:avLst/>
          </a:prstGeom>
        </p:spPr>
        <p:txBody>
          <a:bodyPr lIns="0" tIns="0" rIns="0" bIns="0" rtlCol="0" anchor="t">
            <a:spAutoFit/>
          </a:bodyPr>
          <a:lstStyle/>
          <a:p>
            <a:pPr algn="ctr">
              <a:lnSpc>
                <a:spcPts val="2940"/>
              </a:lnSpc>
            </a:pPr>
            <a:r>
              <a:rPr lang="en-US" sz="2100" b="1">
                <a:solidFill>
                  <a:srgbClr val="06B6D4"/>
                </a:solidFill>
                <a:latin typeface="Poppins Bold"/>
                <a:ea typeface="Poppins Bold"/>
                <a:cs typeface="Poppins Bold"/>
                <a:sym typeface="Poppins Bold"/>
              </a:rPr>
              <a:t>Logika Flowchart</a:t>
            </a:r>
          </a:p>
          <a:p>
            <a:pPr algn="ctr">
              <a:lnSpc>
                <a:spcPts val="2879"/>
              </a:lnSpc>
            </a:pPr>
            <a:r>
              <a:rPr lang="en-US" sz="1500">
                <a:solidFill>
                  <a:srgbClr val="CBD5E1"/>
                </a:solidFill>
                <a:latin typeface="Lato"/>
                <a:ea typeface="Lato"/>
                <a:cs typeface="Lato"/>
                <a:sym typeface="Lato"/>
              </a:rPr>
              <a:t>Alur keputusan sistem dari mulai input menu hingga eksekusi fungsi Stack/Queue.</a:t>
            </a:r>
          </a:p>
        </p:txBody>
      </p:sp>
      <p:sp>
        <p:nvSpPr>
          <p:cNvPr id="32" name="TextBox 32"/>
          <p:cNvSpPr txBox="1"/>
          <p:nvPr/>
        </p:nvSpPr>
        <p:spPr>
          <a:xfrm>
            <a:off x="5650811" y="2793187"/>
            <a:ext cx="2222516" cy="1512494"/>
          </a:xfrm>
          <a:prstGeom prst="rect">
            <a:avLst/>
          </a:prstGeom>
        </p:spPr>
        <p:txBody>
          <a:bodyPr lIns="0" tIns="0" rIns="0" bIns="0" rtlCol="0" anchor="t">
            <a:spAutoFit/>
          </a:bodyPr>
          <a:lstStyle/>
          <a:p>
            <a:pPr algn="ctr">
              <a:lnSpc>
                <a:spcPts val="2940"/>
              </a:lnSpc>
            </a:pPr>
            <a:r>
              <a:rPr lang="en-US" sz="2100" b="1">
                <a:solidFill>
                  <a:srgbClr val="06B6D4"/>
                </a:solidFill>
                <a:latin typeface="Poppins Bold"/>
                <a:ea typeface="Poppins Bold"/>
                <a:cs typeface="Poppins Bold"/>
                <a:sym typeface="Poppins Bold"/>
              </a:rPr>
              <a:t>Struktur Kode</a:t>
            </a:r>
          </a:p>
          <a:p>
            <a:pPr algn="ctr">
              <a:lnSpc>
                <a:spcPts val="2879"/>
              </a:lnSpc>
            </a:pPr>
            <a:r>
              <a:rPr lang="en-US" sz="1500">
                <a:solidFill>
                  <a:srgbClr val="CBD5E1"/>
                </a:solidFill>
                <a:latin typeface="Lato"/>
                <a:ea typeface="Lato"/>
                <a:cs typeface="Lato"/>
                <a:sym typeface="Lato"/>
              </a:rPr>
              <a:t>Modularisasi fungsi untuk Enqueue (History) dan Push/Pop (Navigasi).</a:t>
            </a:r>
          </a:p>
        </p:txBody>
      </p:sp>
      <p:sp>
        <p:nvSpPr>
          <p:cNvPr id="33" name="TextBox 33"/>
          <p:cNvSpPr txBox="1"/>
          <p:nvPr/>
        </p:nvSpPr>
        <p:spPr>
          <a:xfrm>
            <a:off x="8858155" y="2793187"/>
            <a:ext cx="2535936" cy="1512494"/>
          </a:xfrm>
          <a:prstGeom prst="rect">
            <a:avLst/>
          </a:prstGeom>
        </p:spPr>
        <p:txBody>
          <a:bodyPr lIns="0" tIns="0" rIns="0" bIns="0" rtlCol="0" anchor="t">
            <a:spAutoFit/>
          </a:bodyPr>
          <a:lstStyle/>
          <a:p>
            <a:pPr algn="ctr">
              <a:lnSpc>
                <a:spcPts val="2940"/>
              </a:lnSpc>
            </a:pPr>
            <a:r>
              <a:rPr lang="en-US" sz="2100" b="1">
                <a:solidFill>
                  <a:srgbClr val="06B6D4"/>
                </a:solidFill>
                <a:latin typeface="Poppins Bold"/>
                <a:ea typeface="Poppins Bold"/>
                <a:cs typeface="Poppins Bold"/>
                <a:sym typeface="Poppins Bold"/>
              </a:rPr>
              <a:t>Optimasi</a:t>
            </a:r>
          </a:p>
          <a:p>
            <a:pPr algn="ctr">
              <a:lnSpc>
                <a:spcPts val="2879"/>
              </a:lnSpc>
            </a:pPr>
            <a:r>
              <a:rPr lang="en-US" sz="1500">
                <a:solidFill>
                  <a:srgbClr val="CBD5E1"/>
                </a:solidFill>
                <a:latin typeface="Lato"/>
                <a:ea typeface="Lato"/>
                <a:cs typeface="Lato"/>
                <a:sym typeface="Lato"/>
              </a:rPr>
              <a:t>Sistem tetap ringan meskipun menyimpan riwayat penelusuran yang panjang.</a:t>
            </a:r>
          </a:p>
        </p:txBody>
      </p:sp>
      <p:sp>
        <p:nvSpPr>
          <p:cNvPr id="34" name="TextBox 34"/>
          <p:cNvSpPr txBox="1"/>
          <p:nvPr/>
        </p:nvSpPr>
        <p:spPr>
          <a:xfrm>
            <a:off x="762000" y="577253"/>
            <a:ext cx="5862914"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VISUALISASI NAVIGASI WEB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1333500" y="2505075"/>
            <a:ext cx="9525000" cy="2847975"/>
          </a:xfrm>
          <a:custGeom>
            <a:avLst/>
            <a:gdLst/>
            <a:ahLst/>
            <a:cxnLst/>
            <a:rect l="l" t="t" r="r" b="b"/>
            <a:pathLst>
              <a:path w="9525000" h="2847975">
                <a:moveTo>
                  <a:pt x="0" y="0"/>
                </a:moveTo>
                <a:lnTo>
                  <a:pt x="9525000" y="0"/>
                </a:lnTo>
                <a:lnTo>
                  <a:pt x="9525000" y="2847975"/>
                </a:lnTo>
                <a:lnTo>
                  <a:pt x="0" y="28479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1333500" y="2505075"/>
            <a:ext cx="9525000" cy="2847975"/>
            <a:chOff x="0" y="0"/>
            <a:chExt cx="12700000" cy="3797300"/>
          </a:xfrm>
        </p:grpSpPr>
        <p:sp>
          <p:nvSpPr>
            <p:cNvPr id="7" name="Freeform 7"/>
            <p:cNvSpPr/>
            <p:nvPr/>
          </p:nvSpPr>
          <p:spPr>
            <a:xfrm>
              <a:off x="0" y="0"/>
              <a:ext cx="12700000" cy="3797300"/>
            </a:xfrm>
            <a:custGeom>
              <a:avLst/>
              <a:gdLst/>
              <a:ahLst/>
              <a:cxnLst/>
              <a:rect l="l" t="t" r="r" b="b"/>
              <a:pathLst>
                <a:path w="12700000" h="3797300">
                  <a:moveTo>
                    <a:pt x="0" y="0"/>
                  </a:moveTo>
                  <a:lnTo>
                    <a:pt x="12700000" y="0"/>
                  </a:lnTo>
                  <a:lnTo>
                    <a:pt x="12700000" y="3797300"/>
                  </a:lnTo>
                  <a:lnTo>
                    <a:pt x="0" y="3797300"/>
                  </a:lnTo>
                  <a:lnTo>
                    <a:pt x="0" y="0"/>
                  </a:lnTo>
                  <a:close/>
                </a:path>
              </a:pathLst>
            </a:custGeom>
            <a:blipFill>
              <a:blip r:embed="rId7"/>
              <a:stretch>
                <a:fillRect/>
              </a:stretch>
            </a:blipFill>
          </p:spPr>
        </p:sp>
      </p:grpSp>
      <p:sp>
        <p:nvSpPr>
          <p:cNvPr id="8" name="Freeform 8"/>
          <p:cNvSpPr/>
          <p:nvPr/>
        </p:nvSpPr>
        <p:spPr>
          <a:xfrm>
            <a:off x="1714500" y="3028950"/>
            <a:ext cx="200025" cy="247650"/>
          </a:xfrm>
          <a:custGeom>
            <a:avLst/>
            <a:gdLst/>
            <a:ahLst/>
            <a:cxnLst/>
            <a:rect l="l" t="t" r="r" b="b"/>
            <a:pathLst>
              <a:path w="200025" h="247650">
                <a:moveTo>
                  <a:pt x="0" y="0"/>
                </a:moveTo>
                <a:lnTo>
                  <a:pt x="200025" y="0"/>
                </a:lnTo>
                <a:lnTo>
                  <a:pt x="200025" y="247650"/>
                </a:lnTo>
                <a:lnTo>
                  <a:pt x="0" y="247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2190750" y="3038475"/>
            <a:ext cx="8286750" cy="609600"/>
          </a:xfrm>
          <a:custGeom>
            <a:avLst/>
            <a:gdLst/>
            <a:ahLst/>
            <a:cxnLst/>
            <a:rect l="l" t="t" r="r" b="b"/>
            <a:pathLst>
              <a:path w="8286750" h="609600">
                <a:moveTo>
                  <a:pt x="0" y="0"/>
                </a:moveTo>
                <a:lnTo>
                  <a:pt x="8286750" y="0"/>
                </a:lnTo>
                <a:lnTo>
                  <a:pt x="8286750" y="609600"/>
                </a:lnTo>
                <a:lnTo>
                  <a:pt x="0" y="6096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Freeform 10"/>
          <p:cNvSpPr/>
          <p:nvPr/>
        </p:nvSpPr>
        <p:spPr>
          <a:xfrm>
            <a:off x="2190750" y="3886200"/>
            <a:ext cx="8286750" cy="304800"/>
          </a:xfrm>
          <a:custGeom>
            <a:avLst/>
            <a:gdLst/>
            <a:ahLst/>
            <a:cxnLst/>
            <a:rect l="l" t="t" r="r" b="b"/>
            <a:pathLst>
              <a:path w="8286750" h="304800">
                <a:moveTo>
                  <a:pt x="0" y="0"/>
                </a:moveTo>
                <a:lnTo>
                  <a:pt x="8286750" y="0"/>
                </a:lnTo>
                <a:lnTo>
                  <a:pt x="8286750" y="304800"/>
                </a:lnTo>
                <a:lnTo>
                  <a:pt x="0" y="30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1" name="Freeform 11"/>
          <p:cNvSpPr/>
          <p:nvPr/>
        </p:nvSpPr>
        <p:spPr>
          <a:xfrm>
            <a:off x="2190750" y="4429125"/>
            <a:ext cx="8286750" cy="304800"/>
          </a:xfrm>
          <a:custGeom>
            <a:avLst/>
            <a:gdLst/>
            <a:ahLst/>
            <a:cxnLst/>
            <a:rect l="l" t="t" r="r" b="b"/>
            <a:pathLst>
              <a:path w="8286750" h="304800">
                <a:moveTo>
                  <a:pt x="0" y="0"/>
                </a:moveTo>
                <a:lnTo>
                  <a:pt x="8286750" y="0"/>
                </a:lnTo>
                <a:lnTo>
                  <a:pt x="8286750" y="304800"/>
                </a:lnTo>
                <a:lnTo>
                  <a:pt x="0" y="304800"/>
                </a:lnTo>
                <a:lnTo>
                  <a:pt x="0" y="0"/>
                </a:lnTo>
                <a:close/>
              </a:path>
            </a:pathLst>
          </a:custGeom>
          <a:blipFill>
            <a:blip r:embed="rId12">
              <a:extLst>
                <a:ext uri="{96DAC541-7B7A-43D3-8B79-37D633B846F1}">
                  <asvg:svgBlip xmlns:asvg="http://schemas.microsoft.com/office/drawing/2016/SVG/main" r:embed="rId14"/>
                </a:ext>
              </a:extLst>
            </a:blip>
            <a:stretch>
              <a:fillRect/>
            </a:stretch>
          </a:blipFill>
        </p:spPr>
      </p:sp>
      <p:sp>
        <p:nvSpPr>
          <p:cNvPr id="12" name="Freeform 12"/>
          <p:cNvSpPr/>
          <p:nvPr/>
        </p:nvSpPr>
        <p:spPr>
          <a:xfrm>
            <a:off x="1714500" y="3876675"/>
            <a:ext cx="200025" cy="247650"/>
          </a:xfrm>
          <a:custGeom>
            <a:avLst/>
            <a:gdLst/>
            <a:ahLst/>
            <a:cxnLst/>
            <a:rect l="l" t="t" r="r" b="b"/>
            <a:pathLst>
              <a:path w="200025" h="247650">
                <a:moveTo>
                  <a:pt x="0" y="0"/>
                </a:moveTo>
                <a:lnTo>
                  <a:pt x="200025" y="0"/>
                </a:lnTo>
                <a:lnTo>
                  <a:pt x="200025" y="247650"/>
                </a:lnTo>
                <a:lnTo>
                  <a:pt x="0" y="247650"/>
                </a:lnTo>
                <a:lnTo>
                  <a:pt x="0" y="0"/>
                </a:lnTo>
                <a:close/>
              </a:path>
            </a:pathLst>
          </a:custGeom>
          <a:blipFill>
            <a:blip r:embed="rId8">
              <a:extLst>
                <a:ext uri="{96DAC541-7B7A-43D3-8B79-37D633B846F1}">
                  <asvg:svgBlip xmlns:asvg="http://schemas.microsoft.com/office/drawing/2016/SVG/main" r:embed="rId15"/>
                </a:ext>
              </a:extLst>
            </a:blip>
            <a:stretch>
              <a:fillRect/>
            </a:stretch>
          </a:blipFill>
        </p:spPr>
      </p:sp>
      <p:sp>
        <p:nvSpPr>
          <p:cNvPr id="13" name="Freeform 13"/>
          <p:cNvSpPr/>
          <p:nvPr/>
        </p:nvSpPr>
        <p:spPr>
          <a:xfrm>
            <a:off x="1714500" y="4419600"/>
            <a:ext cx="200025" cy="247650"/>
          </a:xfrm>
          <a:custGeom>
            <a:avLst/>
            <a:gdLst/>
            <a:ahLst/>
            <a:cxnLst/>
            <a:rect l="l" t="t" r="r" b="b"/>
            <a:pathLst>
              <a:path w="200025" h="247650">
                <a:moveTo>
                  <a:pt x="0" y="0"/>
                </a:moveTo>
                <a:lnTo>
                  <a:pt x="200025" y="0"/>
                </a:lnTo>
                <a:lnTo>
                  <a:pt x="200025" y="247650"/>
                </a:lnTo>
                <a:lnTo>
                  <a:pt x="0" y="247650"/>
                </a:lnTo>
                <a:lnTo>
                  <a:pt x="0" y="0"/>
                </a:lnTo>
                <a:close/>
              </a:path>
            </a:pathLst>
          </a:custGeom>
          <a:blipFill>
            <a:blip r:embed="rId8">
              <a:extLst>
                <a:ext uri="{96DAC541-7B7A-43D3-8B79-37D633B846F1}">
                  <asvg:svgBlip xmlns:asvg="http://schemas.microsoft.com/office/drawing/2016/SVG/main" r:embed="rId16"/>
                </a:ext>
              </a:extLst>
            </a:blip>
            <a:stretch>
              <a:fillRect/>
            </a:stretch>
          </a:blipFill>
        </p:spPr>
      </p:sp>
      <p:grpSp>
        <p:nvGrpSpPr>
          <p:cNvPr id="14" name="Group 14"/>
          <p:cNvGrpSpPr/>
          <p:nvPr/>
        </p:nvGrpSpPr>
        <p:grpSpPr>
          <a:xfrm>
            <a:off x="1714500" y="3028950"/>
            <a:ext cx="200025" cy="247650"/>
            <a:chOff x="0" y="0"/>
            <a:chExt cx="266700" cy="330200"/>
          </a:xfrm>
        </p:grpSpPr>
        <p:sp>
          <p:nvSpPr>
            <p:cNvPr id="15" name="Freeform 15"/>
            <p:cNvSpPr/>
            <p:nvPr/>
          </p:nvSpPr>
          <p:spPr>
            <a:xfrm>
              <a:off x="0" y="0"/>
              <a:ext cx="266700" cy="330200"/>
            </a:xfrm>
            <a:custGeom>
              <a:avLst/>
              <a:gdLst/>
              <a:ahLst/>
              <a:cxnLst/>
              <a:rect l="l" t="t" r="r" b="b"/>
              <a:pathLst>
                <a:path w="266700" h="330200">
                  <a:moveTo>
                    <a:pt x="0" y="0"/>
                  </a:moveTo>
                  <a:lnTo>
                    <a:pt x="266700" y="0"/>
                  </a:lnTo>
                  <a:lnTo>
                    <a:pt x="266700" y="330200"/>
                  </a:lnTo>
                  <a:lnTo>
                    <a:pt x="0" y="330200"/>
                  </a:lnTo>
                  <a:lnTo>
                    <a:pt x="0" y="0"/>
                  </a:lnTo>
                  <a:close/>
                </a:path>
              </a:pathLst>
            </a:custGeom>
            <a:blipFill>
              <a:blip r:embed="rId17"/>
              <a:stretch>
                <a:fillRect/>
              </a:stretch>
            </a:blipFill>
          </p:spPr>
        </p:sp>
      </p:grpSp>
      <p:grpSp>
        <p:nvGrpSpPr>
          <p:cNvPr id="16" name="Group 16"/>
          <p:cNvGrpSpPr/>
          <p:nvPr/>
        </p:nvGrpSpPr>
        <p:grpSpPr>
          <a:xfrm>
            <a:off x="1714500" y="3876675"/>
            <a:ext cx="200025" cy="247650"/>
            <a:chOff x="0" y="0"/>
            <a:chExt cx="266700" cy="330200"/>
          </a:xfrm>
        </p:grpSpPr>
        <p:sp>
          <p:nvSpPr>
            <p:cNvPr id="17" name="Freeform 17"/>
            <p:cNvSpPr/>
            <p:nvPr/>
          </p:nvSpPr>
          <p:spPr>
            <a:xfrm>
              <a:off x="0" y="0"/>
              <a:ext cx="266700" cy="330200"/>
            </a:xfrm>
            <a:custGeom>
              <a:avLst/>
              <a:gdLst/>
              <a:ahLst/>
              <a:cxnLst/>
              <a:rect l="l" t="t" r="r" b="b"/>
              <a:pathLst>
                <a:path w="266700" h="330200">
                  <a:moveTo>
                    <a:pt x="0" y="0"/>
                  </a:moveTo>
                  <a:lnTo>
                    <a:pt x="266700" y="0"/>
                  </a:lnTo>
                  <a:lnTo>
                    <a:pt x="266700" y="330200"/>
                  </a:lnTo>
                  <a:lnTo>
                    <a:pt x="0" y="330200"/>
                  </a:lnTo>
                  <a:lnTo>
                    <a:pt x="0" y="0"/>
                  </a:lnTo>
                  <a:close/>
                </a:path>
              </a:pathLst>
            </a:custGeom>
            <a:blipFill>
              <a:blip r:embed="rId17"/>
              <a:stretch>
                <a:fillRect/>
              </a:stretch>
            </a:blipFill>
          </p:spPr>
        </p:sp>
      </p:grpSp>
      <p:grpSp>
        <p:nvGrpSpPr>
          <p:cNvPr id="18" name="Group 18"/>
          <p:cNvGrpSpPr/>
          <p:nvPr/>
        </p:nvGrpSpPr>
        <p:grpSpPr>
          <a:xfrm>
            <a:off x="1714500" y="4419600"/>
            <a:ext cx="200025" cy="247650"/>
            <a:chOff x="0" y="0"/>
            <a:chExt cx="266700" cy="330200"/>
          </a:xfrm>
        </p:grpSpPr>
        <p:sp>
          <p:nvSpPr>
            <p:cNvPr id="19" name="Freeform 19"/>
            <p:cNvSpPr/>
            <p:nvPr/>
          </p:nvSpPr>
          <p:spPr>
            <a:xfrm>
              <a:off x="0" y="0"/>
              <a:ext cx="266700" cy="330200"/>
            </a:xfrm>
            <a:custGeom>
              <a:avLst/>
              <a:gdLst/>
              <a:ahLst/>
              <a:cxnLst/>
              <a:rect l="l" t="t" r="r" b="b"/>
              <a:pathLst>
                <a:path w="266700" h="330200">
                  <a:moveTo>
                    <a:pt x="0" y="0"/>
                  </a:moveTo>
                  <a:lnTo>
                    <a:pt x="266700" y="0"/>
                  </a:lnTo>
                  <a:lnTo>
                    <a:pt x="266700" y="330200"/>
                  </a:lnTo>
                  <a:lnTo>
                    <a:pt x="0" y="330200"/>
                  </a:lnTo>
                  <a:lnTo>
                    <a:pt x="0" y="0"/>
                  </a:lnTo>
                  <a:close/>
                </a:path>
              </a:pathLst>
            </a:custGeom>
            <a:blipFill>
              <a:blip r:embed="rId17"/>
              <a:stretch>
                <a:fillRect/>
              </a:stretch>
            </a:blipFill>
          </p:spPr>
        </p:sp>
      </p:grpSp>
      <p:sp>
        <p:nvSpPr>
          <p:cNvPr id="20" name="Freeform 20"/>
          <p:cNvSpPr/>
          <p:nvPr/>
        </p:nvSpPr>
        <p:spPr>
          <a:xfrm>
            <a:off x="571500" y="571500"/>
            <a:ext cx="57150" cy="619125"/>
          </a:xfrm>
          <a:custGeom>
            <a:avLst/>
            <a:gdLst/>
            <a:ahLst/>
            <a:cxnLst/>
            <a:rect l="l" t="t" r="r" b="b"/>
            <a:pathLst>
              <a:path w="57150" h="619125">
                <a:moveTo>
                  <a:pt x="0" y="0"/>
                </a:moveTo>
                <a:lnTo>
                  <a:pt x="57150" y="0"/>
                </a:lnTo>
                <a:lnTo>
                  <a:pt x="57150" y="619125"/>
                </a:lnTo>
                <a:lnTo>
                  <a:pt x="0" y="61912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1" name="Freeform 21"/>
          <p:cNvSpPr/>
          <p:nvPr/>
        </p:nvSpPr>
        <p:spPr>
          <a:xfrm>
            <a:off x="762000" y="571500"/>
            <a:ext cx="11401425" cy="619125"/>
          </a:xfrm>
          <a:custGeom>
            <a:avLst/>
            <a:gdLst/>
            <a:ahLst/>
            <a:cxnLst/>
            <a:rect l="l" t="t" r="r" b="b"/>
            <a:pathLst>
              <a:path w="11401425" h="619125">
                <a:moveTo>
                  <a:pt x="0" y="0"/>
                </a:moveTo>
                <a:lnTo>
                  <a:pt x="11401425" y="0"/>
                </a:lnTo>
                <a:lnTo>
                  <a:pt x="11401425" y="619125"/>
                </a:lnTo>
                <a:lnTo>
                  <a:pt x="0" y="619125"/>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2" name="TextBox 22"/>
          <p:cNvSpPr txBox="1"/>
          <p:nvPr/>
        </p:nvSpPr>
        <p:spPr>
          <a:xfrm>
            <a:off x="2190750" y="2922270"/>
            <a:ext cx="7773953" cy="1181481"/>
          </a:xfrm>
          <a:prstGeom prst="rect">
            <a:avLst/>
          </a:prstGeom>
        </p:spPr>
        <p:txBody>
          <a:bodyPr lIns="0" tIns="0" rIns="0" bIns="0" rtlCol="0" anchor="t">
            <a:spAutoFit/>
          </a:bodyPr>
          <a:lstStyle/>
          <a:p>
            <a:pPr algn="l">
              <a:lnSpc>
                <a:spcPts val="2879"/>
              </a:lnSpc>
            </a:pPr>
            <a:r>
              <a:rPr lang="en-US" sz="1500" b="1">
                <a:solidFill>
                  <a:srgbClr val="CBD5E1"/>
                </a:solidFill>
                <a:latin typeface="Lato Bold"/>
                <a:ea typeface="Lato Bold"/>
                <a:cs typeface="Lato Bold"/>
                <a:sym typeface="Lato Bold"/>
              </a:rPr>
              <a:t>Arlina &amp; Astuti:</a:t>
            </a:r>
            <a:r>
              <a:rPr lang="en-US" sz="1500">
                <a:solidFill>
                  <a:srgbClr val="CBD5E1"/>
                </a:solidFill>
                <a:latin typeface="Lato"/>
                <a:ea typeface="Lato"/>
                <a:cs typeface="Lato"/>
                <a:sym typeface="Lato"/>
              </a:rPr>
              <a:t> Pemanfaatan History Browser untuk Pemilihan Website dan Blog pada SEO Indonesia.</a:t>
            </a:r>
          </a:p>
          <a:p>
            <a:pPr algn="l">
              <a:lnSpc>
                <a:spcPts val="3750"/>
              </a:lnSpc>
            </a:pPr>
            <a:r>
              <a:rPr lang="en-US" sz="1500" b="1">
                <a:solidFill>
                  <a:srgbClr val="CBD5E1"/>
                </a:solidFill>
                <a:latin typeface="Lato Bold"/>
                <a:ea typeface="Lato Bold"/>
                <a:cs typeface="Lato Bold"/>
                <a:sym typeface="Lato Bold"/>
              </a:rPr>
              <a:t>Fitra, dkk (2025):</a:t>
            </a:r>
            <a:r>
              <a:rPr lang="en-US" sz="1500">
                <a:solidFill>
                  <a:srgbClr val="CBD5E1"/>
                </a:solidFill>
                <a:latin typeface="Lato"/>
                <a:ea typeface="Lato"/>
                <a:cs typeface="Lato"/>
                <a:sym typeface="Lato"/>
              </a:rPr>
              <a:t> Implementasi Struktur Data Stack untuk Ekstensi Web Browser Chrome.</a:t>
            </a:r>
          </a:p>
        </p:txBody>
      </p:sp>
      <p:sp>
        <p:nvSpPr>
          <p:cNvPr id="23" name="TextBox 23"/>
          <p:cNvSpPr txBox="1"/>
          <p:nvPr/>
        </p:nvSpPr>
        <p:spPr>
          <a:xfrm>
            <a:off x="2190750" y="4227195"/>
            <a:ext cx="7963310" cy="419481"/>
          </a:xfrm>
          <a:prstGeom prst="rect">
            <a:avLst/>
          </a:prstGeom>
        </p:spPr>
        <p:txBody>
          <a:bodyPr lIns="0" tIns="0" rIns="0" bIns="0" rtlCol="0" anchor="t">
            <a:spAutoFit/>
          </a:bodyPr>
          <a:lstStyle/>
          <a:p>
            <a:pPr algn="l">
              <a:lnSpc>
                <a:spcPts val="3750"/>
              </a:lnSpc>
            </a:pPr>
            <a:r>
              <a:rPr lang="en-US" sz="1500" b="1">
                <a:solidFill>
                  <a:srgbClr val="CBD5E1"/>
                </a:solidFill>
                <a:latin typeface="Lato Bold"/>
                <a:ea typeface="Lato Bold"/>
                <a:cs typeface="Lato Bold"/>
                <a:sym typeface="Lato Bold"/>
              </a:rPr>
              <a:t>Syahputra, A. K.:</a:t>
            </a:r>
            <a:r>
              <a:rPr lang="en-US" sz="1500">
                <a:solidFill>
                  <a:srgbClr val="CBD5E1"/>
                </a:solidFill>
                <a:latin typeface="Lato"/>
                <a:ea typeface="Lato"/>
                <a:cs typeface="Lato"/>
                <a:sym typeface="Lato"/>
              </a:rPr>
              <a:t> Dasar-dasar Internet, Website, Search Engine, dan Mekanisme Web Browser.</a:t>
            </a:r>
          </a:p>
        </p:txBody>
      </p:sp>
      <p:sp>
        <p:nvSpPr>
          <p:cNvPr id="24" name="TextBox 24"/>
          <p:cNvSpPr txBox="1"/>
          <p:nvPr/>
        </p:nvSpPr>
        <p:spPr>
          <a:xfrm>
            <a:off x="762000" y="577253"/>
            <a:ext cx="5620960" cy="619125"/>
          </a:xfrm>
          <a:prstGeom prst="rect">
            <a:avLst/>
          </a:prstGeom>
        </p:spPr>
        <p:txBody>
          <a:bodyPr lIns="0" tIns="0" rIns="0" bIns="0" rtlCol="0" anchor="t">
            <a:spAutoFit/>
          </a:bodyPr>
          <a:lstStyle/>
          <a:p>
            <a:pPr algn="l">
              <a:lnSpc>
                <a:spcPts val="4620"/>
              </a:lnSpc>
            </a:pPr>
            <a:r>
              <a:rPr lang="en-US" sz="3300" b="1">
                <a:solidFill>
                  <a:srgbClr val="F8FAFC"/>
                </a:solidFill>
                <a:latin typeface="Poppins Bold"/>
                <a:ea typeface="Poppins Bold"/>
                <a:cs typeface="Poppins Bold"/>
                <a:sym typeface="Poppins Bold"/>
              </a:rPr>
              <a:t>REFERENSI JURNAL UTAMA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192000" cy="6858000"/>
            <a:chOff x="0" y="0"/>
            <a:chExt cx="16256000" cy="9144000"/>
          </a:xfrm>
        </p:grpSpPr>
        <p:sp>
          <p:nvSpPr>
            <p:cNvPr id="4" name="Freeform 4"/>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blipFill>
              <a:blip r:embed="rId4"/>
              <a:stretch>
                <a:fillRect/>
              </a:stretch>
            </a:blipFill>
          </p:spPr>
        </p:sp>
      </p:grpSp>
      <p:sp>
        <p:nvSpPr>
          <p:cNvPr id="5" name="Freeform 5"/>
          <p:cNvSpPr/>
          <p:nvPr/>
        </p:nvSpPr>
        <p:spPr>
          <a:xfrm>
            <a:off x="295275" y="1425026"/>
            <a:ext cx="11601450" cy="1428750"/>
          </a:xfrm>
          <a:custGeom>
            <a:avLst/>
            <a:gdLst/>
            <a:ahLst/>
            <a:cxnLst/>
            <a:rect l="l" t="t" r="r" b="b"/>
            <a:pathLst>
              <a:path w="11601450" h="1428750">
                <a:moveTo>
                  <a:pt x="0" y="0"/>
                </a:moveTo>
                <a:lnTo>
                  <a:pt x="11601450" y="0"/>
                </a:lnTo>
                <a:lnTo>
                  <a:pt x="11601450" y="1428750"/>
                </a:lnTo>
                <a:lnTo>
                  <a:pt x="0" y="14287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571500" y="4442374"/>
            <a:ext cx="11049000" cy="304800"/>
          </a:xfrm>
          <a:custGeom>
            <a:avLst/>
            <a:gdLst/>
            <a:ahLst/>
            <a:cxnLst/>
            <a:rect l="l" t="t" r="r" b="b"/>
            <a:pathLst>
              <a:path w="11049000" h="304800">
                <a:moveTo>
                  <a:pt x="0" y="0"/>
                </a:moveTo>
                <a:lnTo>
                  <a:pt x="11049000" y="0"/>
                </a:lnTo>
                <a:lnTo>
                  <a:pt x="11049000" y="304800"/>
                </a:lnTo>
                <a:lnTo>
                  <a:pt x="0" y="30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2286000" y="3044276"/>
            <a:ext cx="7620000" cy="731339"/>
          </a:xfrm>
          <a:custGeom>
            <a:avLst/>
            <a:gdLst/>
            <a:ahLst/>
            <a:cxnLst/>
            <a:rect l="l" t="t" r="r" b="b"/>
            <a:pathLst>
              <a:path w="7620000" h="731339">
                <a:moveTo>
                  <a:pt x="0" y="0"/>
                </a:moveTo>
                <a:lnTo>
                  <a:pt x="7620000" y="0"/>
                </a:lnTo>
                <a:lnTo>
                  <a:pt x="7620000" y="731339"/>
                </a:lnTo>
                <a:lnTo>
                  <a:pt x="0" y="7313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2573903" y="2205218"/>
            <a:ext cx="7332097" cy="2237156"/>
          </a:xfrm>
          <a:prstGeom prst="rect">
            <a:avLst/>
          </a:prstGeom>
        </p:spPr>
        <p:txBody>
          <a:bodyPr lIns="0" tIns="0" rIns="0" bIns="0" rtlCol="0" anchor="t">
            <a:spAutoFit/>
          </a:bodyPr>
          <a:lstStyle/>
          <a:p>
            <a:pPr algn="ctr">
              <a:lnSpc>
                <a:spcPts val="10500"/>
              </a:lnSpc>
            </a:pPr>
            <a:r>
              <a:rPr lang="en-US" sz="7500" b="1">
                <a:solidFill>
                  <a:srgbClr val="06B6D4"/>
                </a:solidFill>
                <a:latin typeface="Poppins Bold"/>
                <a:ea typeface="Poppins Bold"/>
                <a:cs typeface="Poppins Bold"/>
                <a:sym typeface="Poppins Bold"/>
              </a:rPr>
              <a:t>Questions?</a:t>
            </a:r>
          </a:p>
          <a:p>
            <a:pPr algn="ctr">
              <a:lnSpc>
                <a:spcPts val="3454"/>
              </a:lnSpc>
            </a:pPr>
            <a:r>
              <a:rPr lang="en-US" sz="1800">
                <a:solidFill>
                  <a:srgbClr val="94A3B8"/>
                </a:solidFill>
                <a:latin typeface="Lato"/>
                <a:ea typeface="Lato"/>
                <a:cs typeface="Lato"/>
                <a:sym typeface="Lato"/>
              </a:rPr>
              <a:t>TerimakasihatasperhatianAndadalampresentasiProyekUTSStruktur Data</a:t>
            </a:r>
            <a:r>
              <a:rPr lang="en-US" sz="1800">
                <a:solidFill>
                  <a:srgbClr val="000000"/>
                </a:solidFill>
                <a:latin typeface="Lato"/>
                <a:ea typeface="Lato"/>
                <a:cs typeface="Lato"/>
                <a:sym typeface="Lato"/>
              </a:rPr>
              <a:t> </a:t>
            </a:r>
            <a:r>
              <a:rPr lang="en-US" sz="1800">
                <a:solidFill>
                  <a:srgbClr val="94A3B8"/>
                </a:solidFill>
                <a:latin typeface="Lato"/>
                <a:ea typeface="Lato"/>
                <a:cs typeface="Lato"/>
                <a:sym typeface="Lato"/>
              </a:rPr>
              <a:t>ini.</a:t>
            </a:r>
          </a:p>
        </p:txBody>
      </p:sp>
      <p:sp>
        <p:nvSpPr>
          <p:cNvPr id="9" name="TextBox 9"/>
          <p:cNvSpPr txBox="1"/>
          <p:nvPr/>
        </p:nvSpPr>
        <p:spPr>
          <a:xfrm>
            <a:off x="3208753" y="2983392"/>
            <a:ext cx="45006" cy="321945"/>
          </a:xfrm>
          <a:prstGeom prst="rect">
            <a:avLst/>
          </a:prstGeom>
        </p:spPr>
        <p:txBody>
          <a:bodyPr lIns="0" tIns="0" rIns="0" bIns="0" rtlCol="0" anchor="t">
            <a:spAutoFit/>
          </a:bodyPr>
          <a:lstStyle/>
          <a:p>
            <a:pPr algn="l">
              <a:lnSpc>
                <a:spcPts val="2520"/>
              </a:lnSpc>
            </a:pPr>
            <a:r>
              <a:rPr lang="en-US" sz="1800">
                <a:solidFill>
                  <a:srgbClr val="94A3B8"/>
                </a:solidFill>
                <a:latin typeface="Lato"/>
                <a:ea typeface="Lato"/>
                <a:cs typeface="Lato"/>
                <a:sym typeface="Lato"/>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517</Words>
  <Application>Microsoft Office PowerPoint</Application>
  <PresentationFormat>Widescreen</PresentationFormat>
  <Paragraphs>78</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Poppins Bold</vt:lpstr>
      <vt:lpstr>Lato Bold</vt:lpstr>
      <vt:lpstr>Lato Italics</vt:lpstr>
      <vt:lpstr>Lato</vt:lpstr>
      <vt:lpstr>Calibri</vt:lpstr>
      <vt:lpstr>Mona Sans VF</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Simulasi Sistem History Browser (1).pdf</dc:title>
  <dc:creator>PC-H-31</dc:creator>
  <cp:lastModifiedBy>INSTIKI</cp:lastModifiedBy>
  <cp:revision>4</cp:revision>
  <dcterms:created xsi:type="dcterms:W3CDTF">2006-08-16T00:00:00Z</dcterms:created>
  <dcterms:modified xsi:type="dcterms:W3CDTF">2026-04-13T05:29:16Z</dcterms:modified>
  <dc:identifier>DAHGj8vz2PI</dc:identifier>
</cp:coreProperties>
</file>